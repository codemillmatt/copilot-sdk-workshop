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Opening, after preflight
TIME BOX: 45 seconds. This is a suggested teaching allocation, not a measured workshop duration.
SAY / EXPLAIN
Imagine you build software for a museum education team. The educator selects approved facts and needs a draft for visitors. Our agent writes the language; the educator still reviews the claims. We call the agent a curator, but it does not replace professional judgment. The result is a console application, with research and a local HTML page as optional run choices.
ASK
Which part of this job should remain a human decision?
RETURN TO HANDS-ON
Do not demonstrate every feature yet. Move to the runtime diagram, then release participants to the first small request.
KEEP THE LIMITS CLEAR
The exhibit shown here is a visual mockup of the output structure, not a generated or verified historical exhibit. Non-SDLC means the agent is doing museum work rather than software-development work.
INSTRUCTOR REFERENCE
instructor/museum/00-preflight.md; workshop/museum-00-preflight.md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Opening
TIME BOX: 90 seconds. This is a suggested teaching allocation, not a measured workshop duration.
SAY / EXPLAIN
The SDK is the programming interface. In the local architecture taught here, its client starts or connects to the Copilot CLI runtime. That runtime is the harness: it manages conversation state, model calls, tool coordination, and events. The model service generates text and can request a tool. It does not execute the application code. A session identifies one conversation; it is not a separate model. The arrows are request/response connections, not an instruction to automate typing into the CLI interface.
ASK
If we create a second session, which part needs to change: the conversation or the model?
RETURN TO HANDS-ON
Keep this vocabulary to client, session, runtime, and model. Avoid a tour of CLI commands or alternate hosting modes.
KEEP THE LIMITS CLEAR
The model service sits outside the local application boundary shown here. A user request can contain multiple model calls. Tool permissions are separate from authenticating to the model service. This diagram describes the workshop configuration, not every SDK deployment option.
INSTRUCTOR REFERENCE
instructor/museum/01-first-session.md
https://github.com/github/copilot-sdk/blob/v1.0.11/docs/features/agent-loop.md
https://docs.github.com/en/copilot/how-tos/set-up/install-copilot-cli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End of the opening
TIME BOX: 60 seconds. This is a suggested teaching allocation, not a measured workshop duration.
SAY / EXPLAIN
The first useful result is deliberately small. Create one tool-disabled session, send the Apollo 11 request, and inspect the response. Then use the supplied event consumer to stream text and add the curator system message. We are not building all capabilities at once.
ASK
Point to the learner page and ask participants to find the file they will edit.
RETURN TO HANDS-ON
Close or hide the deck now. Let participants work through Steps 1-3. Circulate rather than reading the code aloud line by line.
KEEP THE LIMITS CLEAR
The initial response is not verified museum content. Preserve the explicit empty tool list, rejection callback, and cleanup. The supplied helper files stay unchanged. Preflight should already be complete.
INSTRUCTOR REFERENCE
instructor/museum/01-first-session.md
instructor/museum/02-streaming.md
instructor/museum/03-curator-voice.md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Major transition: first application-owned tool
TIME BOX: 75 seconds. This is a suggested teaching allocation, not a measured workshop duration.
SAY / EXPLAIN
The educator chooses the fact set before generation. The runtime tells the model that a tool exists. If the model requests it, the runtime invokes our local function and puts its result into the conversation. Our function returns the selected list. This is a local callback, not an MCP server. Registration supplies the implementation, the allowlist exposes the name, and the prompt requests a call.
ASK
Which part is deterministic: the function result, or whether the model calls it?
RETURN TO HANDS-ON
Release participants to Step 4. Ask them to compare the selected facts, the tool activity, and one sentence in the draft.
KEEP THE LIMITS CLEAR
A completed tool call does not prove factual accuracy. Putting a small fact list directly in the prompt would also be reasonable; the tool teaches application ownership and observable invocation. Permission-free reads of public sample facts are not a general policy for confidential data.
INSTRUCTOR REFERENCE
instructor/museum/04-approved-facts.md
https://github.com/github/copilot-sdk/blob/v1.0.11/docs/getting-started.md#how-tools-work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Major transition: lifecycle and objective result checks
TIME BOX: 75 seconds. This is a suggested teaching allocation, not a measured workshop duration.
SAY / EXPLAIN
The prompt describes what we want. The application checks selected requirements after the response. Step 5 first makes timeout, blank output, and cleanup explicit. Step 6 inspects the returned text with ordinary code. The narrative word range is a concrete example: asking for it and counting it are different operations.
ASK
Can a draft pass every format rule and still contain an unsupported claim?
RETURN TO HANDS-ON
Send participants to Steps 5-6. Use the fixed validation fixture to separate code behavior from model variability. Do not pause the whole room again at Step 6 unless needed.
KEEP THE LIMITS CLEAR
Structural failure is advisory in this sample. A model request failure is a different outcome. The validator does not establish factual grounding or check every instruction, including distinct questions. The response deadline is not a claim that every application startup or cleanup operation has that same budget.
INSTRUCTOR REFERENCE
instructor/museum/05-guardrails.md
instructor/museum/06-structure.md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Major transition: external tools and separate context
TIME BOX: 75 seconds. This is a suggested teaching allocation, not a measured workshop duration.
SAY / EXPLAIN
The educator may want background research, but article text is not approved evidence. Research receives the selected facts to identify the subject, then uses a separate conversation and a Wikipedia MCP server. Its notes go to the educator, not into the generation prompt. The two branches show data separation, not simultaneous execution: this sample runs optional research first, then drafting.
ASK
What would change if we appended the research notes to the approved facts automatically?
RETURN TO HANDS-ON
Release participants to Step 7. Keep generation configuration unchanged and observe the separate outputs.
KEEP THE LIMITS CLEAR
MCP connects tools from another program. The local Node.js server has web access and is not sandboxed by the model tool allowlist. Model-reported links are unverified; parsing does not prove source consultation. Keep the explicit no-usable-citations notice. An isolated research failure can be caught, but disconnecting all networking also prevents generation.
INSTRUCTOR REFERENCE
instructor/museum/07-research.md
https://github.com/github/copilot-sdk/blob/v1.0.11/docs/features/mcp.md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Optional major transition: writing a local artifact
TIME BOX: 60 seconds. This is a suggested teaching allocation, not a measured workshop duration.
SAY / EXPLAIN
The HTML session gets one built-in editing tool and permission for one exact output path. That is separate from the generation and research profiles. The application captures prior file state and compares the result after the session. It confirms a new or changed nonempty regular file before reporting a verified update.
ASK
If an old exhibit.html is still present, does that prove this request wrote anything?
RETURN TO HANDS-ON
Offer Step 8 only if the group has time. Otherwise move to the final debrief. This is a local file, not website deployment.
KEEP THE LIMITS CLEAR
Missing, empty, unchanged, directory, or symbolic-link output is not a verified update. Do not delete prior output to manufacture success. File checks do not prove factual accuracy, safe JavaScript, accessible interaction, or absence of external requests. Inspect source before opening the generated page.
INSTRUCTOR REFERENCE
instructor/museum/08-exhibit-page.md
workshop/museum-08-interactive-exhibit-page.md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Closing, with or without the optional HTML step
TIME BOX: 45 seconds. This is a suggested teaching allocation, not a measured workshop duration.
SAY / EXPLAIN
Ask one participant to demonstrate or describe a result, not recite SDK method names. The model may choose a tool. The application constrains or checks something specific. A human still reviews the claims. These are reusable decisions beyond museum writing.
ASK
Name one model choice, one application-enforced rule, and one remaining human decision.
RETURN TO HANDS-ON
End the presentation after a short example. Point instructors to the companion notes and participants to the finished reference only for comparison.
KEEP THE LIMITS CLEAR
A passing build and a convincing answer do not establish reliability. Do not claim that a single run proves prompt-injection resistance or production readiness. Use public sample data and keep learning artifacts separate from real museum publication.
INSTRUCTOR REFERENCE
instructor/museum/README.md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C2B"/>
        </a:solidFill>
      </p:bgPr>
    </p:bg>
    <p:spTree>
      <p:nvGrpSpPr>
        <p:cNvPr id="1" name=""/>
        <p:cNvGrpSpPr/>
        <p:nvPr/>
      </p:nvGrpSpPr>
      <p:grpSpPr>
        <a:xfrm>
          <a:off x="0" y="0"/>
          <a:ext cx="0" cy="0"/>
          <a:chOff x="0" y="0"/>
          <a:chExt cx="0" cy="0"/>
        </a:xfrm>
      </p:grpSpPr>
      <p:sp>
        <p:nvSpPr>
          <p:cNvPr id="2" name="Text 0"/>
          <p:cNvSpPr/>
          <p:nvPr/>
        </p:nvSpPr>
        <p:spPr>
          <a:xfrm>
            <a:off x="621792" y="411480"/>
            <a:ext cx="6400800" cy="256032"/>
          </a:xfrm>
          <a:prstGeom prst="rect">
            <a:avLst/>
          </a:prstGeom>
          <a:noFill/>
          <a:ln/>
        </p:spPr>
        <p:txBody>
          <a:bodyPr wrap="square" lIns="0" tIns="0" rIns="0" bIns="0" rtlCol="0" anchor="ctr"/>
          <a:lstStyle/>
          <a:p>
            <a:pPr indent="0" marL="0">
              <a:buNone/>
            </a:pPr>
            <a:r>
              <a:rPr lang="en-US" sz="1100" b="1" spc="190" kern="0" dirty="0">
                <a:solidFill>
                  <a:srgbClr val="CDD8D1"/>
                </a:solidFill>
                <a:latin typeface="Trebuchet MS" pitchFamily="34" charset="0"/>
                <a:ea typeface="Trebuchet MS" pitchFamily="34" charset="-122"/>
                <a:cs typeface="Trebuchet MS" pitchFamily="34" charset="-120"/>
              </a:rPr>
              <a:t>MUSEUM EXHIBIT STUDIO</a:t>
            </a:r>
            <a:endParaRPr lang="en-US" sz="1100" dirty="0"/>
          </a:p>
        </p:txBody>
      </p:sp>
      <p:sp>
        <p:nvSpPr>
          <p:cNvPr id="3" name="Text 1"/>
          <p:cNvSpPr/>
          <p:nvPr/>
        </p:nvSpPr>
        <p:spPr>
          <a:xfrm>
            <a:off x="621792" y="6172200"/>
            <a:ext cx="4937760" cy="219456"/>
          </a:xfrm>
          <a:prstGeom prst="rect">
            <a:avLst/>
          </a:prstGeom>
          <a:noFill/>
          <a:ln/>
        </p:spPr>
        <p:txBody>
          <a:bodyPr wrap="square" lIns="0" tIns="0" rIns="0" bIns="0" rtlCol="0" anchor="ctr"/>
          <a:lstStyle/>
          <a:p>
            <a:pPr indent="0" marL="0">
              <a:buNone/>
            </a:pPr>
            <a:r>
              <a:rPr lang="en-US" sz="1050" dirty="0">
                <a:solidFill>
                  <a:srgbClr val="CDD8D1"/>
                </a:solidFill>
                <a:latin typeface="Trebuchet MS" pitchFamily="34" charset="0"/>
                <a:ea typeface="Trebuchet MS" pitchFamily="34" charset="-122"/>
                <a:cs typeface="Trebuchet MS" pitchFamily="34" charset="-120"/>
              </a:rPr>
              <a:t>GitHub Copilot SDK workshop</a:t>
            </a:r>
            <a:endParaRPr lang="en-US" sz="1050" dirty="0"/>
          </a:p>
        </p:txBody>
      </p:sp>
      <p:sp>
        <p:nvSpPr>
          <p:cNvPr id="4" name="Text 2"/>
          <p:cNvSpPr/>
          <p:nvPr/>
        </p:nvSpPr>
        <p:spPr>
          <a:xfrm>
            <a:off x="6720840" y="6172200"/>
            <a:ext cx="4846320" cy="219456"/>
          </a:xfrm>
          <a:prstGeom prst="rect">
            <a:avLst/>
          </a:prstGeom>
          <a:noFill/>
          <a:ln/>
        </p:spPr>
        <p:txBody>
          <a:bodyPr wrap="square" lIns="0" tIns="0" rIns="0" bIns="0" rtlCol="0" anchor="ctr"/>
          <a:lstStyle/>
          <a:p>
            <a:pPr algn="r" indent="0" marL="0">
              <a:buNone/>
            </a:pPr>
            <a:r>
              <a:rPr lang="en-US" sz="1050" dirty="0">
                <a:solidFill>
                  <a:srgbClr val="CDD8D1"/>
                </a:solidFill>
                <a:latin typeface="Trebuchet MS" pitchFamily="34" charset="0"/>
                <a:ea typeface="Trebuchet MS" pitchFamily="34" charset="-122"/>
                <a:cs typeface="Trebuchet MS" pitchFamily="34" charset="-120"/>
              </a:rPr>
              <a:t>01  /  OPENING</a:t>
            </a:r>
            <a:endParaRPr lang="en-US" sz="1050" dirty="0"/>
          </a:p>
        </p:txBody>
      </p:sp>
      <p:sp>
        <p:nvSpPr>
          <p:cNvPr id="5" name="Shape 3"/>
          <p:cNvSpPr/>
          <p:nvPr/>
        </p:nvSpPr>
        <p:spPr>
          <a:xfrm>
            <a:off x="8321040" y="731520"/>
            <a:ext cx="2651760" cy="2651760"/>
          </a:xfrm>
          <a:prstGeom prst="ellipse">
            <a:avLst/>
          </a:prstGeom>
          <a:solidFill>
            <a:srgbClr val="31594D"/>
          </a:solidFill>
          <a:ln w="12700">
            <a:solidFill>
              <a:srgbClr val="31594D">
                <a:alpha val="0"/>
              </a:srgbClr>
            </a:solidFill>
            <a:prstDash val="solid"/>
          </a:ln>
        </p:spPr>
      </p:sp>
      <p:sp>
        <p:nvSpPr>
          <p:cNvPr id="6" name="Shape 4"/>
          <p:cNvSpPr/>
          <p:nvPr/>
        </p:nvSpPr>
        <p:spPr>
          <a:xfrm>
            <a:off x="10012680" y="1325880"/>
            <a:ext cx="1325880" cy="1325880"/>
          </a:xfrm>
          <a:prstGeom prst="ellipse">
            <a:avLst/>
          </a:prstGeom>
          <a:solidFill>
            <a:srgbClr val="AD4D36"/>
          </a:solidFill>
          <a:ln w="12700">
            <a:solidFill>
              <a:srgbClr val="AD4D36">
                <a:alpha val="0"/>
              </a:srgbClr>
            </a:solidFill>
            <a:prstDash val="solid"/>
          </a:ln>
        </p:spPr>
      </p:sp>
      <p:sp>
        <p:nvSpPr>
          <p:cNvPr id="7" name="Text 5"/>
          <p:cNvSpPr/>
          <p:nvPr/>
        </p:nvSpPr>
        <p:spPr>
          <a:xfrm>
            <a:off x="621792" y="1188720"/>
            <a:ext cx="6446520" cy="2834640"/>
          </a:xfrm>
          <a:prstGeom prst="rect">
            <a:avLst/>
          </a:prstGeom>
          <a:noFill/>
          <a:ln/>
        </p:spPr>
        <p:txBody>
          <a:bodyPr wrap="square" lIns="0" tIns="0" rIns="0" bIns="0" rtlCol="0" anchor="t"/>
          <a:lstStyle/>
          <a:p>
            <a:pPr indent="0" marL="0">
              <a:buNone/>
            </a:pPr>
            <a:r>
              <a:rPr lang="en-US" sz="4600" b="1" dirty="0">
                <a:solidFill>
                  <a:srgbClr val="F4F0E7"/>
                </a:solidFill>
                <a:latin typeface="Georgia" pitchFamily="34" charset="0"/>
                <a:ea typeface="Georgia" pitchFamily="34" charset="-122"/>
                <a:cs typeface="Georgia" pitchFamily="34" charset="-120"/>
              </a:rPr>
              <a:t>Build a curator.</a:t>
            </a:r>
            <a:endParaRPr lang="en-US" sz="4600" dirty="0"/>
          </a:p>
          <a:p>
            <a:pPr indent="0" marL="0">
              <a:buNone/>
            </a:pPr>
            <a:r>
              <a:rPr lang="en-US" sz="4600" b="1" dirty="0">
                <a:solidFill>
                  <a:srgbClr val="F4F0E7"/>
                </a:solidFill>
                <a:latin typeface="Georgia" pitchFamily="34" charset="0"/>
                <a:ea typeface="Georgia" pitchFamily="34" charset="-122"/>
                <a:cs typeface="Georgia" pitchFamily="34" charset="-120"/>
              </a:rPr>
              <a:t>Keep the</a:t>
            </a:r>
            <a:endParaRPr lang="en-US" sz="4600" dirty="0"/>
          </a:p>
          <a:p>
            <a:pPr indent="0" marL="0">
              <a:buNone/>
            </a:pPr>
            <a:r>
              <a:rPr lang="en-US" sz="4600" b="1" dirty="0">
                <a:solidFill>
                  <a:srgbClr val="F4F0E7"/>
                </a:solidFill>
                <a:latin typeface="Georgia" pitchFamily="34" charset="0"/>
                <a:ea typeface="Georgia" pitchFamily="34" charset="-122"/>
                <a:cs typeface="Georgia" pitchFamily="34" charset="-120"/>
              </a:rPr>
              <a:t>judgment human.</a:t>
            </a:r>
            <a:endParaRPr lang="en-US" sz="4600" dirty="0"/>
          </a:p>
        </p:txBody>
      </p:sp>
      <p:sp>
        <p:nvSpPr>
          <p:cNvPr id="8" name="Text 6"/>
          <p:cNvSpPr/>
          <p:nvPr/>
        </p:nvSpPr>
        <p:spPr>
          <a:xfrm>
            <a:off x="667512" y="4526280"/>
            <a:ext cx="5486400" cy="914400"/>
          </a:xfrm>
          <a:prstGeom prst="rect">
            <a:avLst/>
          </a:prstGeom>
          <a:noFill/>
          <a:ln/>
        </p:spPr>
        <p:txBody>
          <a:bodyPr wrap="square" lIns="0" tIns="0" rIns="0" bIns="0" rtlCol="0" anchor="ctr"/>
          <a:lstStyle/>
          <a:p>
            <a:pPr indent="0" marL="0">
              <a:buNone/>
            </a:pPr>
            <a:r>
              <a:rPr lang="en-US" sz="2500" dirty="0">
                <a:solidFill>
                  <a:srgbClr val="CDD8D1"/>
                </a:solidFill>
                <a:latin typeface="Trebuchet MS" pitchFamily="34" charset="0"/>
                <a:ea typeface="Trebuchet MS" pitchFamily="34" charset="-122"/>
                <a:cs typeface="Trebuchet MS" pitchFamily="34" charset="-120"/>
              </a:rPr>
              <a:t>Approved facts in.</a:t>
            </a:r>
            <a:endParaRPr lang="en-US" sz="2500" dirty="0"/>
          </a:p>
          <a:p>
            <a:pPr indent="0" marL="0">
              <a:buNone/>
            </a:pPr>
            <a:r>
              <a:rPr lang="en-US" sz="2500" dirty="0">
                <a:solidFill>
                  <a:srgbClr val="CDD8D1"/>
                </a:solidFill>
                <a:latin typeface="Trebuchet MS" pitchFamily="34" charset="0"/>
                <a:ea typeface="Trebuchet MS" pitchFamily="34" charset="-122"/>
                <a:cs typeface="Trebuchet MS" pitchFamily="34" charset="-120"/>
              </a:rPr>
              <a:t>An exhibit draft to review.</a:t>
            </a:r>
            <a:endParaRPr lang="en-US" sz="2500" dirty="0"/>
          </a:p>
        </p:txBody>
      </p:sp>
      <p:sp>
        <p:nvSpPr>
          <p:cNvPr id="9" name="Shape 7"/>
          <p:cNvSpPr/>
          <p:nvPr/>
        </p:nvSpPr>
        <p:spPr>
          <a:xfrm>
            <a:off x="7315200" y="2011680"/>
            <a:ext cx="4206240" cy="3584448"/>
          </a:xfrm>
          <a:prstGeom prst="rect">
            <a:avLst/>
          </a:prstGeom>
          <a:solidFill>
            <a:srgbClr val="F4F0E7"/>
          </a:solidFill>
          <a:ln w="12700">
            <a:solidFill>
              <a:srgbClr val="F4F0E7">
                <a:alpha val="0"/>
              </a:srgbClr>
            </a:solidFill>
            <a:prstDash val="solid"/>
          </a:ln>
          <a:effectLst>
            <a:outerShdw sx="100000" sy="100000" kx="0" ky="0" algn="bl" rotWithShape="0" blurRad="152400" dist="38100" dir="5400000">
              <a:srgbClr val="000000">
                <a:alpha val="18000"/>
              </a:srgbClr>
            </a:outerShdw>
          </a:effectLst>
        </p:spPr>
      </p:sp>
      <p:sp>
        <p:nvSpPr>
          <p:cNvPr id="10" name="Text 8"/>
          <p:cNvSpPr/>
          <p:nvPr/>
        </p:nvSpPr>
        <p:spPr>
          <a:xfrm>
            <a:off x="7635240" y="2304288"/>
            <a:ext cx="3429000"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DRAFT / NOT APPROVED</a:t>
            </a:r>
            <a:endParaRPr lang="en-US" sz="1100" dirty="0"/>
          </a:p>
        </p:txBody>
      </p:sp>
      <p:sp>
        <p:nvSpPr>
          <p:cNvPr id="11" name="Text 9"/>
          <p:cNvSpPr/>
          <p:nvPr/>
        </p:nvSpPr>
        <p:spPr>
          <a:xfrm>
            <a:off x="7635240" y="2770632"/>
            <a:ext cx="3474720" cy="1005840"/>
          </a:xfrm>
          <a:prstGeom prst="rect">
            <a:avLst/>
          </a:prstGeom>
          <a:noFill/>
          <a:ln/>
        </p:spPr>
        <p:txBody>
          <a:bodyPr wrap="square" lIns="0" tIns="0" rIns="0" bIns="0" rtlCol="0" anchor="ctr"/>
          <a:lstStyle/>
          <a:p>
            <a:pPr indent="0" marL="0">
              <a:buNone/>
            </a:pPr>
            <a:r>
              <a:rPr lang="en-US" sz="3100" b="1" dirty="0">
                <a:solidFill>
                  <a:srgbClr val="202C2B"/>
                </a:solidFill>
                <a:latin typeface="Georgia" pitchFamily="34" charset="0"/>
                <a:ea typeface="Georgia" pitchFamily="34" charset="-122"/>
                <a:cs typeface="Georgia" pitchFamily="34" charset="-120"/>
              </a:rPr>
              <a:t>A journey</a:t>
            </a:r>
            <a:endParaRPr lang="en-US" sz="3100" dirty="0"/>
          </a:p>
          <a:p>
            <a:pPr indent="0" marL="0">
              <a:buNone/>
            </a:pPr>
            <a:r>
              <a:rPr lang="en-US" sz="3100" b="1" dirty="0">
                <a:solidFill>
                  <a:srgbClr val="202C2B"/>
                </a:solidFill>
                <a:latin typeface="Georgia" pitchFamily="34" charset="0"/>
                <a:ea typeface="Georgia" pitchFamily="34" charset="-122"/>
                <a:cs typeface="Georgia" pitchFamily="34" charset="-120"/>
              </a:rPr>
              <a:t>to the Moon</a:t>
            </a:r>
            <a:endParaRPr lang="en-US" sz="3100" dirty="0"/>
          </a:p>
        </p:txBody>
      </p:sp>
      <p:sp>
        <p:nvSpPr>
          <p:cNvPr id="12" name="Text 10"/>
          <p:cNvSpPr/>
          <p:nvPr/>
        </p:nvSpPr>
        <p:spPr>
          <a:xfrm>
            <a:off x="7635240" y="4041648"/>
            <a:ext cx="3474720" cy="1024128"/>
          </a:xfrm>
          <a:prstGeom prst="rect">
            <a:avLst/>
          </a:prstGeom>
          <a:noFill/>
          <a:ln/>
        </p:spPr>
        <p:txBody>
          <a:bodyPr wrap="square" lIns="0" tIns="0" rIns="0" bIns="0" rtlCol="0" anchor="ctr"/>
          <a:lstStyle/>
          <a:p>
            <a:pPr indent="0" marL="0">
              <a:buNone/>
            </a:pPr>
            <a:r>
              <a:rPr lang="en-US" sz="2000" dirty="0">
                <a:solidFill>
                  <a:srgbClr val="55635E"/>
                </a:solidFill>
                <a:latin typeface="Trebuchet MS" pitchFamily="34" charset="0"/>
                <a:ea typeface="Trebuchet MS" pitchFamily="34" charset="-122"/>
                <a:cs typeface="Trebuchet MS" pitchFamily="34" charset="-120"/>
              </a:rPr>
              <a:t>A title.</a:t>
            </a:r>
            <a:endParaRPr lang="en-US" sz="2000" dirty="0"/>
          </a:p>
          <a:p>
            <a:pPr indent="0" marL="0">
              <a:buNone/>
            </a:pPr>
            <a:r>
              <a:rPr lang="en-US" sz="2000" dirty="0">
                <a:solidFill>
                  <a:srgbClr val="55635E"/>
                </a:solidFill>
                <a:latin typeface="Trebuchet MS" pitchFamily="34" charset="0"/>
                <a:ea typeface="Trebuchet MS" pitchFamily="34" charset="-122"/>
                <a:cs typeface="Trebuchet MS" pitchFamily="34" charset="-120"/>
              </a:rPr>
              <a:t>A short narrative.</a:t>
            </a:r>
            <a:endParaRPr lang="en-US" sz="2000" dirty="0"/>
          </a:p>
          <a:p>
            <a:pPr indent="0" marL="0">
              <a:buNone/>
            </a:pPr>
            <a:r>
              <a:rPr lang="en-US" sz="2000" dirty="0">
                <a:solidFill>
                  <a:srgbClr val="55635E"/>
                </a:solidFill>
                <a:latin typeface="Trebuchet MS" pitchFamily="34" charset="0"/>
                <a:ea typeface="Trebuchet MS" pitchFamily="34" charset="-122"/>
                <a:cs typeface="Trebuchet MS" pitchFamily="34" charset="-120"/>
              </a:rPr>
              <a:t>Three visitor questions.</a:t>
            </a:r>
            <a:endParaRPr lang="en-US" sz="2000" dirty="0"/>
          </a:p>
        </p:txBody>
      </p:sp>
      <p:sp>
        <p:nvSpPr>
          <p:cNvPr id="13" name="Shape 11"/>
          <p:cNvSpPr/>
          <p:nvPr/>
        </p:nvSpPr>
        <p:spPr>
          <a:xfrm>
            <a:off x="7104888" y="5650992"/>
            <a:ext cx="4626864" cy="219456"/>
          </a:xfrm>
          <a:prstGeom prst="rect">
            <a:avLst/>
          </a:prstGeom>
          <a:solidFill>
            <a:srgbClr val="31594D"/>
          </a:solidFill>
          <a:ln w="12700">
            <a:solidFill>
              <a:srgbClr val="31594D">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621792" y="411480"/>
            <a:ext cx="6400800"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MUSEUM EXHIBIT STUDIO</a:t>
            </a:r>
            <a:endParaRPr lang="en-US" sz="1100" dirty="0"/>
          </a:p>
        </p:txBody>
      </p:sp>
      <p:sp>
        <p:nvSpPr>
          <p:cNvPr id="3" name="Text 1"/>
          <p:cNvSpPr/>
          <p:nvPr/>
        </p:nvSpPr>
        <p:spPr>
          <a:xfrm>
            <a:off x="621792" y="6172200"/>
            <a:ext cx="4937760" cy="219456"/>
          </a:xfrm>
          <a:prstGeom prst="rect">
            <a:avLst/>
          </a:prstGeom>
          <a:noFill/>
          <a:ln/>
        </p:spPr>
        <p:txBody>
          <a:bodyPr wrap="square" lIns="0" tIns="0" rIns="0" bIns="0" rtlCol="0" anchor="ctr"/>
          <a:lstStyle/>
          <a:p>
            <a:pPr indent="0" marL="0">
              <a:buNone/>
            </a:pPr>
            <a:r>
              <a:rPr lang="en-US" sz="1050" dirty="0">
                <a:solidFill>
                  <a:srgbClr val="55635E"/>
                </a:solidFill>
                <a:latin typeface="Trebuchet MS" pitchFamily="34" charset="0"/>
                <a:ea typeface="Trebuchet MS" pitchFamily="34" charset="-122"/>
                <a:cs typeface="Trebuchet MS" pitchFamily="34" charset="-120"/>
              </a:rPr>
              <a:t>GitHub Copilot SDK workshop</a:t>
            </a:r>
            <a:endParaRPr lang="en-US" sz="1050" dirty="0"/>
          </a:p>
        </p:txBody>
      </p:sp>
      <p:sp>
        <p:nvSpPr>
          <p:cNvPr id="4" name="Text 2"/>
          <p:cNvSpPr/>
          <p:nvPr/>
        </p:nvSpPr>
        <p:spPr>
          <a:xfrm>
            <a:off x="6720840" y="6172200"/>
            <a:ext cx="4846320" cy="219456"/>
          </a:xfrm>
          <a:prstGeom prst="rect">
            <a:avLst/>
          </a:prstGeom>
          <a:noFill/>
          <a:ln/>
        </p:spPr>
        <p:txBody>
          <a:bodyPr wrap="square" lIns="0" tIns="0" rIns="0" bIns="0" rtlCol="0" anchor="ctr"/>
          <a:lstStyle/>
          <a:p>
            <a:pPr algn="r" indent="0" marL="0">
              <a:buNone/>
            </a:pPr>
            <a:r>
              <a:rPr lang="en-US" sz="1050" dirty="0">
                <a:solidFill>
                  <a:srgbClr val="55635E"/>
                </a:solidFill>
                <a:latin typeface="Trebuchet MS" pitchFamily="34" charset="0"/>
                <a:ea typeface="Trebuchet MS" pitchFamily="34" charset="-122"/>
                <a:cs typeface="Trebuchet MS" pitchFamily="34" charset="-120"/>
              </a:rPr>
              <a:t>02  /  OPENING</a:t>
            </a:r>
            <a:endParaRPr lang="en-US" sz="1050" dirty="0"/>
          </a:p>
        </p:txBody>
      </p:sp>
      <p:sp>
        <p:nvSpPr>
          <p:cNvPr id="5" name="Text 3"/>
          <p:cNvSpPr/>
          <p:nvPr/>
        </p:nvSpPr>
        <p:spPr>
          <a:xfrm>
            <a:off x="621792" y="841248"/>
            <a:ext cx="10789920" cy="1261872"/>
          </a:xfrm>
          <a:prstGeom prst="rect">
            <a:avLst/>
          </a:prstGeom>
          <a:noFill/>
          <a:ln/>
        </p:spPr>
        <p:txBody>
          <a:bodyPr wrap="square" lIns="0" tIns="0" rIns="0" bIns="0" rtlCol="0" anchor="t"/>
          <a:lstStyle/>
          <a:p>
            <a:pPr indent="0" marL="0">
              <a:buNone/>
            </a:pPr>
            <a:r>
              <a:rPr lang="en-US" sz="3900" b="1" dirty="0">
                <a:solidFill>
                  <a:srgbClr val="202C2B"/>
                </a:solidFill>
                <a:latin typeface="Georgia" pitchFamily="34" charset="0"/>
                <a:ea typeface="Georgia" pitchFamily="34" charset="-122"/>
                <a:cs typeface="Georgia" pitchFamily="34" charset="-120"/>
              </a:rPr>
              <a:t>The CLI runs the loop.</a:t>
            </a:r>
            <a:endParaRPr lang="en-US" sz="3900" dirty="0"/>
          </a:p>
          <a:p>
            <a:pPr indent="0" marL="0">
              <a:buNone/>
            </a:pPr>
            <a:r>
              <a:rPr lang="en-US" sz="3900" b="1" dirty="0">
                <a:solidFill>
                  <a:srgbClr val="202C2B"/>
                </a:solidFill>
                <a:latin typeface="Georgia" pitchFamily="34" charset="0"/>
                <a:ea typeface="Georgia" pitchFamily="34" charset="-122"/>
                <a:cs typeface="Georgia" pitchFamily="34" charset="-120"/>
              </a:rPr>
              <a:t>The SDK makes it yours.</a:t>
            </a:r>
            <a:endParaRPr lang="en-US" sz="3900" dirty="0"/>
          </a:p>
        </p:txBody>
      </p:sp>
      <p:sp>
        <p:nvSpPr>
          <p:cNvPr id="6" name="Shape 4"/>
          <p:cNvSpPr/>
          <p:nvPr/>
        </p:nvSpPr>
        <p:spPr>
          <a:xfrm>
            <a:off x="512064" y="2148840"/>
            <a:ext cx="7424928" cy="2578608"/>
          </a:xfrm>
          <a:prstGeom prst="roundRect">
            <a:avLst/>
          </a:prstGeom>
          <a:solidFill>
            <a:srgbClr val="F4F0E7"/>
          </a:solidFill>
          <a:ln w="13970">
            <a:solidFill>
              <a:srgbClr val="31594D"/>
            </a:solidFill>
            <a:prstDash val="dash"/>
          </a:ln>
        </p:spPr>
      </p:sp>
      <p:sp>
        <p:nvSpPr>
          <p:cNvPr id="7" name="Shape 5"/>
          <p:cNvSpPr/>
          <p:nvPr/>
        </p:nvSpPr>
        <p:spPr>
          <a:xfrm>
            <a:off x="640080" y="2450592"/>
            <a:ext cx="2788920" cy="1627632"/>
          </a:xfrm>
          <a:prstGeom prst="roundRect">
            <a:avLst/>
          </a:prstGeom>
          <a:solidFill>
            <a:srgbClr val="FFFFFF"/>
          </a:solidFill>
          <a:ln w="12700">
            <a:solidFill>
              <a:srgbClr val="FFFFFF">
                <a:alpha val="0"/>
              </a:srgbClr>
            </a:solidFill>
            <a:prstDash val="solid"/>
          </a:ln>
        </p:spPr>
      </p:sp>
      <p:sp>
        <p:nvSpPr>
          <p:cNvPr id="8" name="Text 6"/>
          <p:cNvSpPr/>
          <p:nvPr/>
        </p:nvSpPr>
        <p:spPr>
          <a:xfrm>
            <a:off x="859536" y="2688336"/>
            <a:ext cx="2331720" cy="384048"/>
          </a:xfrm>
          <a:prstGeom prst="rect">
            <a:avLst/>
          </a:prstGeom>
          <a:noFill/>
          <a:ln/>
        </p:spPr>
        <p:txBody>
          <a:bodyPr wrap="square" lIns="0" tIns="0" rIns="0" bIns="0" rtlCol="0" anchor="ctr"/>
          <a:lstStyle/>
          <a:p>
            <a:pPr indent="0" marL="0">
              <a:buNone/>
            </a:pPr>
            <a:r>
              <a:rPr lang="en-US" sz="2500" b="1" dirty="0">
                <a:solidFill>
                  <a:srgbClr val="202C2B"/>
                </a:solidFill>
                <a:latin typeface="Trebuchet MS" pitchFamily="34" charset="0"/>
                <a:ea typeface="Trebuchet MS" pitchFamily="34" charset="-122"/>
                <a:cs typeface="Trebuchet MS" pitchFamily="34" charset="-120"/>
              </a:rPr>
              <a:t>Your application</a:t>
            </a:r>
            <a:endParaRPr lang="en-US" sz="2500" dirty="0"/>
          </a:p>
        </p:txBody>
      </p:sp>
      <p:sp>
        <p:nvSpPr>
          <p:cNvPr id="9" name="Text 7"/>
          <p:cNvSpPr/>
          <p:nvPr/>
        </p:nvSpPr>
        <p:spPr>
          <a:xfrm>
            <a:off x="859536" y="3264408"/>
            <a:ext cx="2331720" cy="502920"/>
          </a:xfrm>
          <a:prstGeom prst="rect">
            <a:avLst/>
          </a:prstGeom>
          <a:noFill/>
          <a:ln/>
        </p:spPr>
        <p:txBody>
          <a:bodyPr wrap="square" lIns="0" tIns="0" rIns="0" bIns="0" rtlCol="0" anchor="ctr"/>
          <a:lstStyle/>
          <a:p>
            <a:pPr indent="0" marL="0">
              <a:buNone/>
            </a:pPr>
            <a:r>
              <a:rPr lang="en-US" sz="2000" dirty="0">
                <a:solidFill>
                  <a:srgbClr val="55635E"/>
                </a:solidFill>
                <a:latin typeface="Trebuchet MS" pitchFamily="34" charset="0"/>
                <a:ea typeface="Trebuchet MS" pitchFamily="34" charset="-122"/>
                <a:cs typeface="Trebuchet MS" pitchFamily="34" charset="-120"/>
              </a:rPr>
              <a:t>SDK client + session</a:t>
            </a:r>
            <a:endParaRPr lang="en-US" sz="2000" dirty="0"/>
          </a:p>
        </p:txBody>
      </p:sp>
      <p:sp>
        <p:nvSpPr>
          <p:cNvPr id="10" name="Shape 8"/>
          <p:cNvSpPr/>
          <p:nvPr/>
        </p:nvSpPr>
        <p:spPr>
          <a:xfrm>
            <a:off x="4023360" y="2267712"/>
            <a:ext cx="3767328" cy="1993392"/>
          </a:xfrm>
          <a:prstGeom prst="roundRect">
            <a:avLst/>
          </a:prstGeom>
          <a:solidFill>
            <a:srgbClr val="31594D"/>
          </a:solidFill>
          <a:ln w="12700">
            <a:solidFill>
              <a:srgbClr val="31594D">
                <a:alpha val="0"/>
              </a:srgbClr>
            </a:solidFill>
            <a:prstDash val="solid"/>
          </a:ln>
        </p:spPr>
      </p:sp>
      <p:sp>
        <p:nvSpPr>
          <p:cNvPr id="11" name="Text 9"/>
          <p:cNvSpPr/>
          <p:nvPr/>
        </p:nvSpPr>
        <p:spPr>
          <a:xfrm>
            <a:off x="4343400" y="2624328"/>
            <a:ext cx="3127248" cy="45720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Copilot CLI</a:t>
            </a:r>
            <a:endParaRPr lang="en-US" sz="3000" dirty="0"/>
          </a:p>
        </p:txBody>
      </p:sp>
      <p:sp>
        <p:nvSpPr>
          <p:cNvPr id="12" name="Text 10"/>
          <p:cNvSpPr/>
          <p:nvPr/>
        </p:nvSpPr>
        <p:spPr>
          <a:xfrm>
            <a:off x="4343400" y="3236976"/>
            <a:ext cx="3127248" cy="713232"/>
          </a:xfrm>
          <a:prstGeom prst="rect">
            <a:avLst/>
          </a:prstGeom>
          <a:noFill/>
          <a:ln/>
        </p:spPr>
        <p:txBody>
          <a:bodyPr wrap="square" lIns="0" tIns="0" rIns="0" bIns="0" rtlCol="0" anchor="ctr"/>
          <a:lstStyle/>
          <a:p>
            <a:pPr indent="0" marL="0">
              <a:buNone/>
            </a:pPr>
            <a:r>
              <a:rPr lang="en-US" sz="1900" dirty="0">
                <a:solidFill>
                  <a:srgbClr val="FFFFFF"/>
                </a:solidFill>
                <a:latin typeface="Trebuchet MS" pitchFamily="34" charset="0"/>
                <a:ea typeface="Trebuchet MS" pitchFamily="34" charset="-122"/>
                <a:cs typeface="Trebuchet MS" pitchFamily="34" charset="-120"/>
              </a:rPr>
              <a:t>Conversation state</a:t>
            </a:r>
            <a:endParaRPr lang="en-US" sz="1900" dirty="0"/>
          </a:p>
          <a:p>
            <a:pPr indent="0" marL="0">
              <a:buNone/>
            </a:pPr>
            <a:r>
              <a:rPr lang="en-US" sz="1900" dirty="0">
                <a:solidFill>
                  <a:srgbClr val="FFFFFF"/>
                </a:solidFill>
                <a:latin typeface="Trebuchet MS" pitchFamily="34" charset="0"/>
                <a:ea typeface="Trebuchet MS" pitchFamily="34" charset="-122"/>
                <a:cs typeface="Trebuchet MS" pitchFamily="34" charset="-120"/>
              </a:rPr>
              <a:t>Model calls + tool coordination</a:t>
            </a:r>
            <a:endParaRPr lang="en-US" sz="1900" dirty="0"/>
          </a:p>
        </p:txBody>
      </p:sp>
      <p:sp>
        <p:nvSpPr>
          <p:cNvPr id="13" name="Shape 11"/>
          <p:cNvSpPr/>
          <p:nvPr/>
        </p:nvSpPr>
        <p:spPr>
          <a:xfrm>
            <a:off x="8394192" y="2450592"/>
            <a:ext cx="3154680" cy="1627632"/>
          </a:xfrm>
          <a:prstGeom prst="roundRect">
            <a:avLst/>
          </a:prstGeom>
          <a:solidFill>
            <a:srgbClr val="EBCABD"/>
          </a:solidFill>
          <a:ln w="12700">
            <a:solidFill>
              <a:srgbClr val="EBCABD">
                <a:alpha val="0"/>
              </a:srgbClr>
            </a:solidFill>
            <a:prstDash val="solid"/>
          </a:ln>
        </p:spPr>
      </p:sp>
      <p:sp>
        <p:nvSpPr>
          <p:cNvPr id="14" name="Text 12"/>
          <p:cNvSpPr/>
          <p:nvPr/>
        </p:nvSpPr>
        <p:spPr>
          <a:xfrm>
            <a:off x="8650224" y="2688336"/>
            <a:ext cx="2651760" cy="384048"/>
          </a:xfrm>
          <a:prstGeom prst="rect">
            <a:avLst/>
          </a:prstGeom>
          <a:noFill/>
          <a:ln/>
        </p:spPr>
        <p:txBody>
          <a:bodyPr wrap="square" lIns="0" tIns="0" rIns="0" bIns="0" rtlCol="0" anchor="ctr"/>
          <a:lstStyle/>
          <a:p>
            <a:pPr indent="0" marL="0">
              <a:buNone/>
            </a:pPr>
            <a:r>
              <a:rPr lang="en-US" sz="2500" b="1" dirty="0">
                <a:solidFill>
                  <a:srgbClr val="202C2B"/>
                </a:solidFill>
                <a:latin typeface="Trebuchet MS" pitchFamily="34" charset="0"/>
                <a:ea typeface="Trebuchet MS" pitchFamily="34" charset="-122"/>
                <a:cs typeface="Trebuchet MS" pitchFamily="34" charset="-120"/>
              </a:rPr>
              <a:t>Model service</a:t>
            </a:r>
            <a:endParaRPr lang="en-US" sz="2500" dirty="0"/>
          </a:p>
        </p:txBody>
      </p:sp>
      <p:sp>
        <p:nvSpPr>
          <p:cNvPr id="15" name="Text 13"/>
          <p:cNvSpPr/>
          <p:nvPr/>
        </p:nvSpPr>
        <p:spPr>
          <a:xfrm>
            <a:off x="8650224" y="3264408"/>
            <a:ext cx="2651760" cy="502920"/>
          </a:xfrm>
          <a:prstGeom prst="rect">
            <a:avLst/>
          </a:prstGeom>
          <a:noFill/>
          <a:ln/>
        </p:spPr>
        <p:txBody>
          <a:bodyPr wrap="square" lIns="0" tIns="0" rIns="0" bIns="0" rtlCol="0" anchor="ctr"/>
          <a:lstStyle/>
          <a:p>
            <a:pPr indent="0" marL="0">
              <a:buNone/>
            </a:pPr>
            <a:r>
              <a:rPr lang="en-US" sz="2000" dirty="0">
                <a:solidFill>
                  <a:srgbClr val="202C2B"/>
                </a:solidFill>
                <a:latin typeface="Trebuchet MS" pitchFamily="34" charset="0"/>
                <a:ea typeface="Trebuchet MS" pitchFamily="34" charset="-122"/>
                <a:cs typeface="Trebuchet MS" pitchFamily="34" charset="-120"/>
              </a:rPr>
              <a:t>Text + tool requests</a:t>
            </a:r>
            <a:endParaRPr lang="en-US" sz="2000" dirty="0"/>
          </a:p>
        </p:txBody>
      </p:sp>
      <p:sp>
        <p:nvSpPr>
          <p:cNvPr id="16" name="Shape 14"/>
          <p:cNvSpPr/>
          <p:nvPr/>
        </p:nvSpPr>
        <p:spPr>
          <a:xfrm>
            <a:off x="3483864" y="3255264"/>
            <a:ext cx="457200" cy="0"/>
          </a:xfrm>
          <a:prstGeom prst="line">
            <a:avLst/>
          </a:prstGeom>
          <a:noFill/>
          <a:ln w="31750">
            <a:solidFill>
              <a:srgbClr val="31594D"/>
            </a:solidFill>
            <a:prstDash val="solid"/>
            <a:headEnd type="triangle"/>
            <a:tailEnd type="triangle"/>
          </a:ln>
        </p:spPr>
      </p:sp>
      <p:sp>
        <p:nvSpPr>
          <p:cNvPr id="17" name="Shape 15"/>
          <p:cNvSpPr/>
          <p:nvPr/>
        </p:nvSpPr>
        <p:spPr>
          <a:xfrm>
            <a:off x="7845552" y="3255264"/>
            <a:ext cx="457200" cy="0"/>
          </a:xfrm>
          <a:prstGeom prst="line">
            <a:avLst/>
          </a:prstGeom>
          <a:noFill/>
          <a:ln w="31750">
            <a:solidFill>
              <a:srgbClr val="31594D"/>
            </a:solidFill>
            <a:prstDash val="solid"/>
            <a:headEnd type="triangle"/>
            <a:tailEnd type="triangle"/>
          </a:ln>
        </p:spPr>
      </p:sp>
      <p:sp>
        <p:nvSpPr>
          <p:cNvPr id="18" name="Text 16"/>
          <p:cNvSpPr/>
          <p:nvPr/>
        </p:nvSpPr>
        <p:spPr>
          <a:xfrm>
            <a:off x="804672" y="4352544"/>
            <a:ext cx="6675120"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ON YOUR MACHINE</a:t>
            </a:r>
            <a:endParaRPr lang="en-US" sz="1100" dirty="0"/>
          </a:p>
        </p:txBody>
      </p:sp>
      <p:sp>
        <p:nvSpPr>
          <p:cNvPr id="19" name="Text 17"/>
          <p:cNvSpPr/>
          <p:nvPr/>
        </p:nvSpPr>
        <p:spPr>
          <a:xfrm>
            <a:off x="804672" y="5212080"/>
            <a:ext cx="10698480" cy="566928"/>
          </a:xfrm>
          <a:prstGeom prst="rect">
            <a:avLst/>
          </a:prstGeom>
          <a:noFill/>
          <a:ln/>
        </p:spPr>
        <p:txBody>
          <a:bodyPr wrap="square" lIns="0" tIns="0" rIns="0" bIns="0" rtlCol="0" anchor="ctr"/>
          <a:lstStyle/>
          <a:p>
            <a:pPr indent="0" marL="0">
              <a:buNone/>
            </a:pPr>
            <a:r>
              <a:rPr lang="en-US" sz="2400" b="1" dirty="0">
                <a:solidFill>
                  <a:srgbClr val="31594D"/>
                </a:solidFill>
                <a:latin typeface="Trebuchet MS" pitchFamily="34" charset="0"/>
                <a:ea typeface="Trebuchet MS" pitchFamily="34" charset="-122"/>
                <a:cs typeface="Trebuchet MS" pitchFamily="34" charset="-120"/>
              </a:rPr>
              <a:t>In your code: client = connection, session = conversation.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621792" y="411480"/>
            <a:ext cx="6400800"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MUSEUM EXHIBIT STUDIO</a:t>
            </a:r>
            <a:endParaRPr lang="en-US" sz="1100" dirty="0"/>
          </a:p>
        </p:txBody>
      </p:sp>
      <p:sp>
        <p:nvSpPr>
          <p:cNvPr id="3" name="Text 1"/>
          <p:cNvSpPr/>
          <p:nvPr/>
        </p:nvSpPr>
        <p:spPr>
          <a:xfrm>
            <a:off x="621792" y="6172200"/>
            <a:ext cx="4937760" cy="219456"/>
          </a:xfrm>
          <a:prstGeom prst="rect">
            <a:avLst/>
          </a:prstGeom>
          <a:noFill/>
          <a:ln/>
        </p:spPr>
        <p:txBody>
          <a:bodyPr wrap="square" lIns="0" tIns="0" rIns="0" bIns="0" rtlCol="0" anchor="ctr"/>
          <a:lstStyle/>
          <a:p>
            <a:pPr indent="0" marL="0">
              <a:buNone/>
            </a:pPr>
            <a:r>
              <a:rPr lang="en-US" sz="1050" dirty="0">
                <a:solidFill>
                  <a:srgbClr val="55635E"/>
                </a:solidFill>
                <a:latin typeface="Trebuchet MS" pitchFamily="34" charset="0"/>
                <a:ea typeface="Trebuchet MS" pitchFamily="34" charset="-122"/>
                <a:cs typeface="Trebuchet MS" pitchFamily="34" charset="-120"/>
              </a:rPr>
              <a:t>GitHub Copilot SDK workshop</a:t>
            </a:r>
            <a:endParaRPr lang="en-US" sz="1050" dirty="0"/>
          </a:p>
        </p:txBody>
      </p:sp>
      <p:sp>
        <p:nvSpPr>
          <p:cNvPr id="4" name="Text 2"/>
          <p:cNvSpPr/>
          <p:nvPr/>
        </p:nvSpPr>
        <p:spPr>
          <a:xfrm>
            <a:off x="6720840" y="6172200"/>
            <a:ext cx="4846320" cy="219456"/>
          </a:xfrm>
          <a:prstGeom prst="rect">
            <a:avLst/>
          </a:prstGeom>
          <a:noFill/>
          <a:ln/>
        </p:spPr>
        <p:txBody>
          <a:bodyPr wrap="square" lIns="0" tIns="0" rIns="0" bIns="0" rtlCol="0" anchor="ctr"/>
          <a:lstStyle/>
          <a:p>
            <a:pPr algn="r" indent="0" marL="0">
              <a:buNone/>
            </a:pPr>
            <a:r>
              <a:rPr lang="en-US" sz="1050" dirty="0">
                <a:solidFill>
                  <a:srgbClr val="55635E"/>
                </a:solidFill>
                <a:latin typeface="Trebuchet MS" pitchFamily="34" charset="0"/>
                <a:ea typeface="Trebuchet MS" pitchFamily="34" charset="-122"/>
                <a:cs typeface="Trebuchet MS" pitchFamily="34" charset="-120"/>
              </a:rPr>
              <a:t>03  /  START STEPS 1-3</a:t>
            </a:r>
            <a:endParaRPr lang="en-US" sz="1050" dirty="0"/>
          </a:p>
        </p:txBody>
      </p:sp>
      <p:sp>
        <p:nvSpPr>
          <p:cNvPr id="5" name="Text 3"/>
          <p:cNvSpPr/>
          <p:nvPr/>
        </p:nvSpPr>
        <p:spPr>
          <a:xfrm>
            <a:off x="621792" y="841248"/>
            <a:ext cx="10789920" cy="1261872"/>
          </a:xfrm>
          <a:prstGeom prst="rect">
            <a:avLst/>
          </a:prstGeom>
          <a:noFill/>
          <a:ln/>
        </p:spPr>
        <p:txBody>
          <a:bodyPr wrap="square" lIns="0" tIns="0" rIns="0" bIns="0" rtlCol="0" anchor="t"/>
          <a:lstStyle/>
          <a:p>
            <a:pPr indent="0" marL="0">
              <a:buNone/>
            </a:pPr>
            <a:r>
              <a:rPr lang="en-US" sz="3900" b="1" dirty="0">
                <a:solidFill>
                  <a:srgbClr val="202C2B"/>
                </a:solidFill>
                <a:latin typeface="Georgia" pitchFamily="34" charset="0"/>
                <a:ea typeface="Georgia" pitchFamily="34" charset="-122"/>
                <a:cs typeface="Georgia" pitchFamily="34" charset="-120"/>
              </a:rPr>
              <a:t>Connect. Ask. Inspect.</a:t>
            </a:r>
            <a:endParaRPr lang="en-US" sz="3900" dirty="0"/>
          </a:p>
        </p:txBody>
      </p:sp>
      <p:sp>
        <p:nvSpPr>
          <p:cNvPr id="6" name="Shape 4"/>
          <p:cNvSpPr/>
          <p:nvPr/>
        </p:nvSpPr>
        <p:spPr>
          <a:xfrm>
            <a:off x="658368" y="2240280"/>
            <a:ext cx="969264" cy="969264"/>
          </a:xfrm>
          <a:prstGeom prst="ellipse">
            <a:avLst/>
          </a:prstGeom>
          <a:solidFill>
            <a:srgbClr val="31594D"/>
          </a:solidFill>
          <a:ln w="12700">
            <a:solidFill>
              <a:srgbClr val="31594D">
                <a:alpha val="0"/>
              </a:srgbClr>
            </a:solidFill>
            <a:prstDash val="solid"/>
          </a:ln>
        </p:spPr>
      </p:sp>
      <p:sp>
        <p:nvSpPr>
          <p:cNvPr id="7" name="Text 5"/>
          <p:cNvSpPr/>
          <p:nvPr/>
        </p:nvSpPr>
        <p:spPr>
          <a:xfrm>
            <a:off x="658368" y="2295144"/>
            <a:ext cx="969264" cy="768096"/>
          </a:xfrm>
          <a:prstGeom prst="rect">
            <a:avLst/>
          </a:prstGeom>
          <a:noFill/>
          <a:ln/>
        </p:spPr>
        <p:txBody>
          <a:bodyPr wrap="square" lIns="0" tIns="0" rIns="0" bIns="0" rtlCol="0" anchor="ct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01</a:t>
            </a:r>
            <a:endParaRPr lang="en-US" sz="2800" dirty="0"/>
          </a:p>
        </p:txBody>
      </p:sp>
      <p:sp>
        <p:nvSpPr>
          <p:cNvPr id="8" name="Text 6"/>
          <p:cNvSpPr/>
          <p:nvPr/>
        </p:nvSpPr>
        <p:spPr>
          <a:xfrm>
            <a:off x="658368" y="3602736"/>
            <a:ext cx="3182112" cy="731520"/>
          </a:xfrm>
          <a:prstGeom prst="rect">
            <a:avLst/>
          </a:prstGeom>
          <a:noFill/>
          <a:ln/>
        </p:spPr>
        <p:txBody>
          <a:bodyPr wrap="square" lIns="0" tIns="0" rIns="0" bIns="0" rtlCol="0" anchor="ctr"/>
          <a:lstStyle/>
          <a:p>
            <a:pPr indent="0" marL="0">
              <a:buNone/>
            </a:pPr>
            <a:r>
              <a:rPr lang="en-US" sz="2700" b="1" dirty="0">
                <a:solidFill>
                  <a:srgbClr val="202C2B"/>
                </a:solidFill>
                <a:latin typeface="Trebuchet MS" pitchFamily="34" charset="0"/>
                <a:ea typeface="Trebuchet MS" pitchFamily="34" charset="-122"/>
                <a:cs typeface="Trebuchet MS" pitchFamily="34" charset="-120"/>
              </a:rPr>
              <a:t>Create a session</a:t>
            </a:r>
            <a:endParaRPr lang="en-US" sz="2700" dirty="0"/>
          </a:p>
        </p:txBody>
      </p:sp>
      <p:sp>
        <p:nvSpPr>
          <p:cNvPr id="9" name="Text 7"/>
          <p:cNvSpPr/>
          <p:nvPr/>
        </p:nvSpPr>
        <p:spPr>
          <a:xfrm>
            <a:off x="658368" y="4480560"/>
            <a:ext cx="3182112" cy="832104"/>
          </a:xfrm>
          <a:prstGeom prst="rect">
            <a:avLst/>
          </a:prstGeom>
          <a:noFill/>
          <a:ln/>
        </p:spPr>
        <p:txBody>
          <a:bodyPr wrap="square" lIns="0" tIns="0" rIns="0" bIns="0" rtlCol="0" anchor="t"/>
          <a:lstStyle/>
          <a:p>
            <a:pPr indent="0" marL="0">
              <a:buNone/>
            </a:pPr>
            <a:r>
              <a:rPr lang="en-US" sz="2100" dirty="0">
                <a:solidFill>
                  <a:srgbClr val="55635E"/>
                </a:solidFill>
                <a:latin typeface="Trebuchet MS" pitchFamily="34" charset="0"/>
                <a:ea typeface="Trebuchet MS" pitchFamily="34" charset="-122"/>
                <a:cs typeface="Trebuchet MS" pitchFamily="34" charset="-120"/>
              </a:rPr>
              <a:t>Start with no tools.</a:t>
            </a:r>
            <a:endParaRPr lang="en-US" sz="2100" dirty="0"/>
          </a:p>
        </p:txBody>
      </p:sp>
      <p:sp>
        <p:nvSpPr>
          <p:cNvPr id="10" name="Shape 8"/>
          <p:cNvSpPr/>
          <p:nvPr/>
        </p:nvSpPr>
        <p:spPr>
          <a:xfrm>
            <a:off x="4507992" y="2240280"/>
            <a:ext cx="969264" cy="969264"/>
          </a:xfrm>
          <a:prstGeom prst="ellipse">
            <a:avLst/>
          </a:prstGeom>
          <a:solidFill>
            <a:srgbClr val="AD4D36"/>
          </a:solidFill>
          <a:ln w="12700">
            <a:solidFill>
              <a:srgbClr val="AD4D36">
                <a:alpha val="0"/>
              </a:srgbClr>
            </a:solidFill>
            <a:prstDash val="solid"/>
          </a:ln>
        </p:spPr>
      </p:sp>
      <p:sp>
        <p:nvSpPr>
          <p:cNvPr id="11" name="Text 9"/>
          <p:cNvSpPr/>
          <p:nvPr/>
        </p:nvSpPr>
        <p:spPr>
          <a:xfrm>
            <a:off x="4507992" y="2295144"/>
            <a:ext cx="969264" cy="768096"/>
          </a:xfrm>
          <a:prstGeom prst="rect">
            <a:avLst/>
          </a:prstGeom>
          <a:noFill/>
          <a:ln/>
        </p:spPr>
        <p:txBody>
          <a:bodyPr wrap="square" lIns="0" tIns="0" rIns="0" bIns="0" rtlCol="0" anchor="ct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02</a:t>
            </a:r>
            <a:endParaRPr lang="en-US" sz="2800" dirty="0"/>
          </a:p>
        </p:txBody>
      </p:sp>
      <p:sp>
        <p:nvSpPr>
          <p:cNvPr id="12" name="Text 10"/>
          <p:cNvSpPr/>
          <p:nvPr/>
        </p:nvSpPr>
        <p:spPr>
          <a:xfrm>
            <a:off x="4507992" y="3602736"/>
            <a:ext cx="3182112" cy="731520"/>
          </a:xfrm>
          <a:prstGeom prst="rect">
            <a:avLst/>
          </a:prstGeom>
          <a:noFill/>
          <a:ln/>
        </p:spPr>
        <p:txBody>
          <a:bodyPr wrap="square" lIns="0" tIns="0" rIns="0" bIns="0" rtlCol="0" anchor="ctr"/>
          <a:lstStyle/>
          <a:p>
            <a:pPr indent="0" marL="0">
              <a:buNone/>
            </a:pPr>
            <a:r>
              <a:rPr lang="en-US" sz="2700" b="1" dirty="0">
                <a:solidFill>
                  <a:srgbClr val="202C2B"/>
                </a:solidFill>
                <a:latin typeface="Trebuchet MS" pitchFamily="34" charset="0"/>
                <a:ea typeface="Trebuchet MS" pitchFamily="34" charset="-122"/>
                <a:cs typeface="Trebuchet MS" pitchFamily="34" charset="-120"/>
              </a:rPr>
              <a:t>Send one prompt</a:t>
            </a:r>
            <a:endParaRPr lang="en-US" sz="2700" dirty="0"/>
          </a:p>
        </p:txBody>
      </p:sp>
      <p:sp>
        <p:nvSpPr>
          <p:cNvPr id="13" name="Text 11"/>
          <p:cNvSpPr/>
          <p:nvPr/>
        </p:nvSpPr>
        <p:spPr>
          <a:xfrm>
            <a:off x="4507992" y="4480560"/>
            <a:ext cx="3182112" cy="832104"/>
          </a:xfrm>
          <a:prstGeom prst="rect">
            <a:avLst/>
          </a:prstGeom>
          <a:noFill/>
          <a:ln/>
        </p:spPr>
        <p:txBody>
          <a:bodyPr wrap="square" lIns="0" tIns="0" rIns="0" bIns="0" rtlCol="0" anchor="t"/>
          <a:lstStyle/>
          <a:p>
            <a:pPr indent="0" marL="0">
              <a:buNone/>
            </a:pPr>
            <a:r>
              <a:rPr lang="en-US" sz="2100" dirty="0">
                <a:solidFill>
                  <a:srgbClr val="55635E"/>
                </a:solidFill>
                <a:latin typeface="Trebuchet MS" pitchFamily="34" charset="0"/>
                <a:ea typeface="Trebuchet MS" pitchFamily="34" charset="-122"/>
                <a:cs typeface="Trebuchet MS" pitchFamily="34" charset="-120"/>
              </a:rPr>
              <a:t>Request two sentences.</a:t>
            </a:r>
            <a:endParaRPr lang="en-US" sz="2100" dirty="0"/>
          </a:p>
        </p:txBody>
      </p:sp>
      <p:sp>
        <p:nvSpPr>
          <p:cNvPr id="14" name="Shape 12"/>
          <p:cNvSpPr/>
          <p:nvPr/>
        </p:nvSpPr>
        <p:spPr>
          <a:xfrm>
            <a:off x="8348472" y="2240280"/>
            <a:ext cx="969264" cy="969264"/>
          </a:xfrm>
          <a:prstGeom prst="ellipse">
            <a:avLst/>
          </a:prstGeom>
          <a:solidFill>
            <a:srgbClr val="31594D"/>
          </a:solidFill>
          <a:ln w="12700">
            <a:solidFill>
              <a:srgbClr val="31594D">
                <a:alpha val="0"/>
              </a:srgbClr>
            </a:solidFill>
            <a:prstDash val="solid"/>
          </a:ln>
        </p:spPr>
      </p:sp>
      <p:sp>
        <p:nvSpPr>
          <p:cNvPr id="15" name="Text 13"/>
          <p:cNvSpPr/>
          <p:nvPr/>
        </p:nvSpPr>
        <p:spPr>
          <a:xfrm>
            <a:off x="8348472" y="2295144"/>
            <a:ext cx="969264" cy="768096"/>
          </a:xfrm>
          <a:prstGeom prst="rect">
            <a:avLst/>
          </a:prstGeom>
          <a:noFill/>
          <a:ln/>
        </p:spPr>
        <p:txBody>
          <a:bodyPr wrap="square" lIns="0" tIns="0" rIns="0" bIns="0" rtlCol="0" anchor="ct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03</a:t>
            </a:r>
            <a:endParaRPr lang="en-US" sz="2800" dirty="0"/>
          </a:p>
        </p:txBody>
      </p:sp>
      <p:sp>
        <p:nvSpPr>
          <p:cNvPr id="16" name="Text 14"/>
          <p:cNvSpPr/>
          <p:nvPr/>
        </p:nvSpPr>
        <p:spPr>
          <a:xfrm>
            <a:off x="8348472" y="3602736"/>
            <a:ext cx="3182112" cy="731520"/>
          </a:xfrm>
          <a:prstGeom prst="rect">
            <a:avLst/>
          </a:prstGeom>
          <a:noFill/>
          <a:ln/>
        </p:spPr>
        <p:txBody>
          <a:bodyPr wrap="square" lIns="0" tIns="0" rIns="0" bIns="0" rtlCol="0" anchor="ctr"/>
          <a:lstStyle/>
          <a:p>
            <a:pPr indent="0" marL="0">
              <a:buNone/>
            </a:pPr>
            <a:r>
              <a:rPr lang="en-US" sz="2700" b="1" dirty="0">
                <a:solidFill>
                  <a:srgbClr val="202C2B"/>
                </a:solidFill>
                <a:latin typeface="Trebuchet MS" pitchFamily="34" charset="0"/>
                <a:ea typeface="Trebuchet MS" pitchFamily="34" charset="-122"/>
                <a:cs typeface="Trebuchet MS" pitchFamily="34" charset="-120"/>
              </a:rPr>
              <a:t>Read the result</a:t>
            </a:r>
            <a:endParaRPr lang="en-US" sz="2700" dirty="0"/>
          </a:p>
        </p:txBody>
      </p:sp>
      <p:sp>
        <p:nvSpPr>
          <p:cNvPr id="17" name="Text 15"/>
          <p:cNvSpPr/>
          <p:nvPr/>
        </p:nvSpPr>
        <p:spPr>
          <a:xfrm>
            <a:off x="8348472" y="4480560"/>
            <a:ext cx="3182112" cy="832104"/>
          </a:xfrm>
          <a:prstGeom prst="rect">
            <a:avLst/>
          </a:prstGeom>
          <a:noFill/>
          <a:ln/>
        </p:spPr>
        <p:txBody>
          <a:bodyPr wrap="square" lIns="0" tIns="0" rIns="0" bIns="0" rtlCol="0" anchor="t"/>
          <a:lstStyle/>
          <a:p>
            <a:pPr indent="0" marL="0">
              <a:buNone/>
            </a:pPr>
            <a:r>
              <a:rPr lang="en-US" sz="2100" dirty="0">
                <a:solidFill>
                  <a:srgbClr val="55635E"/>
                </a:solidFill>
                <a:latin typeface="Trebuchet MS" pitchFamily="34" charset="0"/>
                <a:ea typeface="Trebuchet MS" pitchFamily="34" charset="-122"/>
                <a:cs typeface="Trebuchet MS" pitchFamily="34" charset="-120"/>
              </a:rPr>
              <a:t>Then add streaming</a:t>
            </a:r>
            <a:endParaRPr lang="en-US" sz="2100" dirty="0"/>
          </a:p>
          <a:p>
            <a:pPr indent="0" marL="0">
              <a:buNone/>
            </a:pPr>
            <a:r>
              <a:rPr lang="en-US" sz="2100" dirty="0">
                <a:solidFill>
                  <a:srgbClr val="55635E"/>
                </a:solidFill>
                <a:latin typeface="Trebuchet MS" pitchFamily="34" charset="0"/>
                <a:ea typeface="Trebuchet MS" pitchFamily="34" charset="-122"/>
                <a:cs typeface="Trebuchet MS" pitchFamily="34" charset="-120"/>
              </a:rPr>
              <a:t>and a curator voice.</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621792" y="411480"/>
            <a:ext cx="6400800"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MUSEUM EXHIBIT STUDIO</a:t>
            </a:r>
            <a:endParaRPr lang="en-US" sz="1100" dirty="0"/>
          </a:p>
        </p:txBody>
      </p:sp>
      <p:sp>
        <p:nvSpPr>
          <p:cNvPr id="3" name="Text 1"/>
          <p:cNvSpPr/>
          <p:nvPr/>
        </p:nvSpPr>
        <p:spPr>
          <a:xfrm>
            <a:off x="621792" y="6172200"/>
            <a:ext cx="4937760" cy="219456"/>
          </a:xfrm>
          <a:prstGeom prst="rect">
            <a:avLst/>
          </a:prstGeom>
          <a:noFill/>
          <a:ln/>
        </p:spPr>
        <p:txBody>
          <a:bodyPr wrap="square" lIns="0" tIns="0" rIns="0" bIns="0" rtlCol="0" anchor="ctr"/>
          <a:lstStyle/>
          <a:p>
            <a:pPr indent="0" marL="0">
              <a:buNone/>
            </a:pPr>
            <a:r>
              <a:rPr lang="en-US" sz="1050" dirty="0">
                <a:solidFill>
                  <a:srgbClr val="55635E"/>
                </a:solidFill>
                <a:latin typeface="Trebuchet MS" pitchFamily="34" charset="0"/>
                <a:ea typeface="Trebuchet MS" pitchFamily="34" charset="-122"/>
                <a:cs typeface="Trebuchet MS" pitchFamily="34" charset="-120"/>
              </a:rPr>
              <a:t>GitHub Copilot SDK workshop</a:t>
            </a:r>
            <a:endParaRPr lang="en-US" sz="1050" dirty="0"/>
          </a:p>
        </p:txBody>
      </p:sp>
      <p:sp>
        <p:nvSpPr>
          <p:cNvPr id="4" name="Text 2"/>
          <p:cNvSpPr/>
          <p:nvPr/>
        </p:nvSpPr>
        <p:spPr>
          <a:xfrm>
            <a:off x="6720840" y="6172200"/>
            <a:ext cx="4846320" cy="219456"/>
          </a:xfrm>
          <a:prstGeom prst="rect">
            <a:avLst/>
          </a:prstGeom>
          <a:noFill/>
          <a:ln/>
        </p:spPr>
        <p:txBody>
          <a:bodyPr wrap="square" lIns="0" tIns="0" rIns="0" bIns="0" rtlCol="0" anchor="ctr"/>
          <a:lstStyle/>
          <a:p>
            <a:pPr algn="r" indent="0" marL="0">
              <a:buNone/>
            </a:pPr>
            <a:r>
              <a:rPr lang="en-US" sz="1050" dirty="0">
                <a:solidFill>
                  <a:srgbClr val="55635E"/>
                </a:solidFill>
                <a:latin typeface="Trebuchet MS" pitchFamily="34" charset="0"/>
                <a:ea typeface="Trebuchet MS" pitchFamily="34" charset="-122"/>
                <a:cs typeface="Trebuchet MS" pitchFamily="34" charset="-120"/>
              </a:rPr>
              <a:t>04  /  BEFORE STEP 4</a:t>
            </a:r>
            <a:endParaRPr lang="en-US" sz="1050" dirty="0"/>
          </a:p>
        </p:txBody>
      </p:sp>
      <p:sp>
        <p:nvSpPr>
          <p:cNvPr id="5" name="Text 3"/>
          <p:cNvSpPr/>
          <p:nvPr/>
        </p:nvSpPr>
        <p:spPr>
          <a:xfrm>
            <a:off x="621792" y="841248"/>
            <a:ext cx="10789920" cy="1261872"/>
          </a:xfrm>
          <a:prstGeom prst="rect">
            <a:avLst/>
          </a:prstGeom>
          <a:noFill/>
          <a:ln/>
        </p:spPr>
        <p:txBody>
          <a:bodyPr wrap="square" lIns="0" tIns="0" rIns="0" bIns="0" rtlCol="0" anchor="t"/>
          <a:lstStyle/>
          <a:p>
            <a:pPr indent="0" marL="0">
              <a:buNone/>
            </a:pPr>
            <a:r>
              <a:rPr lang="en-US" sz="3900" b="1" dirty="0">
                <a:solidFill>
                  <a:srgbClr val="202C2B"/>
                </a:solidFill>
                <a:latin typeface="Georgia" pitchFamily="34" charset="0"/>
                <a:ea typeface="Georgia" pitchFamily="34" charset="-122"/>
                <a:cs typeface="Georgia" pitchFamily="34" charset="-120"/>
              </a:rPr>
              <a:t>The model requests.</a:t>
            </a:r>
            <a:endParaRPr lang="en-US" sz="3900" dirty="0"/>
          </a:p>
          <a:p>
            <a:pPr indent="0" marL="0">
              <a:buNone/>
            </a:pPr>
            <a:r>
              <a:rPr lang="en-US" sz="3900" b="1" dirty="0">
                <a:solidFill>
                  <a:srgbClr val="202C2B"/>
                </a:solidFill>
                <a:latin typeface="Georgia" pitchFamily="34" charset="0"/>
                <a:ea typeface="Georgia" pitchFamily="34" charset="-122"/>
                <a:cs typeface="Georgia" pitchFamily="34" charset="-120"/>
              </a:rPr>
              <a:t>Your code executes.</a:t>
            </a:r>
            <a:endParaRPr lang="en-US" sz="3900" dirty="0"/>
          </a:p>
        </p:txBody>
      </p:sp>
      <p:sp>
        <p:nvSpPr>
          <p:cNvPr id="6" name="Shape 4"/>
          <p:cNvSpPr/>
          <p:nvPr/>
        </p:nvSpPr>
        <p:spPr>
          <a:xfrm>
            <a:off x="658368" y="2514600"/>
            <a:ext cx="3127248" cy="1600200"/>
          </a:xfrm>
          <a:prstGeom prst="roundRect">
            <a:avLst/>
          </a:prstGeom>
          <a:solidFill>
            <a:srgbClr val="EBCABD"/>
          </a:solidFill>
          <a:ln w="12700">
            <a:solidFill>
              <a:srgbClr val="EBCABD">
                <a:alpha val="0"/>
              </a:srgbClr>
            </a:solidFill>
            <a:prstDash val="solid"/>
          </a:ln>
        </p:spPr>
      </p:sp>
      <p:sp>
        <p:nvSpPr>
          <p:cNvPr id="7" name="Text 5"/>
          <p:cNvSpPr/>
          <p:nvPr/>
        </p:nvSpPr>
        <p:spPr>
          <a:xfrm>
            <a:off x="914400" y="2752344"/>
            <a:ext cx="2633472" cy="457200"/>
          </a:xfrm>
          <a:prstGeom prst="rect">
            <a:avLst/>
          </a:prstGeom>
          <a:noFill/>
          <a:ln/>
        </p:spPr>
        <p:txBody>
          <a:bodyPr wrap="square" lIns="0" tIns="0" rIns="0" bIns="0" rtlCol="0" anchor="ctr"/>
          <a:lstStyle/>
          <a:p>
            <a:pPr indent="0" marL="0">
              <a:buNone/>
            </a:pPr>
            <a:r>
              <a:rPr lang="en-US" sz="2500" b="1" dirty="0">
                <a:solidFill>
                  <a:srgbClr val="202C2B"/>
                </a:solidFill>
                <a:latin typeface="Trebuchet MS" pitchFamily="34" charset="0"/>
                <a:ea typeface="Trebuchet MS" pitchFamily="34" charset="-122"/>
                <a:cs typeface="Trebuchet MS" pitchFamily="34" charset="-120"/>
              </a:rPr>
              <a:t>Model request</a:t>
            </a:r>
            <a:endParaRPr lang="en-US" sz="2500" dirty="0"/>
          </a:p>
        </p:txBody>
      </p:sp>
      <p:sp>
        <p:nvSpPr>
          <p:cNvPr id="8" name="Text 6"/>
          <p:cNvSpPr/>
          <p:nvPr/>
        </p:nvSpPr>
        <p:spPr>
          <a:xfrm>
            <a:off x="914400" y="3410712"/>
            <a:ext cx="2633472" cy="420624"/>
          </a:xfrm>
          <a:prstGeom prst="rect">
            <a:avLst/>
          </a:prstGeom>
          <a:noFill/>
          <a:ln/>
        </p:spPr>
        <p:txBody>
          <a:bodyPr wrap="square" lIns="0" tIns="0" rIns="0" bIns="0" rtlCol="0" anchor="ctr"/>
          <a:lstStyle/>
          <a:p>
            <a:pPr indent="0" marL="0">
              <a:buNone/>
            </a:pPr>
            <a:r>
              <a:rPr lang="en-US" sz="1900" dirty="0">
                <a:solidFill>
                  <a:srgbClr val="55635E"/>
                </a:solidFill>
                <a:latin typeface="Trebuchet MS" pitchFamily="34" charset="0"/>
                <a:ea typeface="Trebuchet MS" pitchFamily="34" charset="-122"/>
                <a:cs typeface="Trebuchet MS" pitchFamily="34" charset="-120"/>
              </a:rPr>
              <a:t>Model chooses a tool</a:t>
            </a:r>
            <a:endParaRPr lang="en-US" sz="1900" dirty="0"/>
          </a:p>
        </p:txBody>
      </p:sp>
      <p:sp>
        <p:nvSpPr>
          <p:cNvPr id="9" name="Shape 7"/>
          <p:cNvSpPr/>
          <p:nvPr/>
        </p:nvSpPr>
        <p:spPr>
          <a:xfrm>
            <a:off x="4526280" y="2514600"/>
            <a:ext cx="3127248" cy="1600200"/>
          </a:xfrm>
          <a:prstGeom prst="roundRect">
            <a:avLst/>
          </a:prstGeom>
          <a:solidFill>
            <a:srgbClr val="31594D"/>
          </a:solidFill>
          <a:ln w="12700">
            <a:solidFill>
              <a:srgbClr val="31594D">
                <a:alpha val="0"/>
              </a:srgbClr>
            </a:solidFill>
            <a:prstDash val="solid"/>
          </a:ln>
        </p:spPr>
      </p:sp>
      <p:sp>
        <p:nvSpPr>
          <p:cNvPr id="10" name="Text 8"/>
          <p:cNvSpPr/>
          <p:nvPr/>
        </p:nvSpPr>
        <p:spPr>
          <a:xfrm>
            <a:off x="4782312" y="2752344"/>
            <a:ext cx="2633472" cy="457200"/>
          </a:xfrm>
          <a:prstGeom prst="rect">
            <a:avLst/>
          </a:prstGeom>
          <a:noFill/>
          <a:ln/>
        </p:spPr>
        <p:txBody>
          <a:bodyPr wrap="square" lIns="0" tIns="0" rIns="0" bIns="0" rtlCol="0" anchor="ctr"/>
          <a:lstStyle/>
          <a:p>
            <a:pPr indent="0" marL="0">
              <a:buNone/>
            </a:pPr>
            <a:r>
              <a:rPr lang="en-US" sz="2500" b="1" dirty="0">
                <a:solidFill>
                  <a:srgbClr val="FFFFFF"/>
                </a:solidFill>
                <a:latin typeface="Trebuchet MS" pitchFamily="34" charset="0"/>
                <a:ea typeface="Trebuchet MS" pitchFamily="34" charset="-122"/>
                <a:cs typeface="Trebuchet MS" pitchFamily="34" charset="-120"/>
              </a:rPr>
              <a:t>Your function</a:t>
            </a:r>
            <a:endParaRPr lang="en-US" sz="2500" dirty="0"/>
          </a:p>
        </p:txBody>
      </p:sp>
      <p:sp>
        <p:nvSpPr>
          <p:cNvPr id="11" name="Text 9"/>
          <p:cNvSpPr/>
          <p:nvPr/>
        </p:nvSpPr>
        <p:spPr>
          <a:xfrm>
            <a:off x="4782312" y="3410712"/>
            <a:ext cx="2633472" cy="420624"/>
          </a:xfrm>
          <a:prstGeom prst="rect">
            <a:avLst/>
          </a:prstGeom>
          <a:noFill/>
          <a:ln/>
        </p:spPr>
        <p:txBody>
          <a:bodyPr wrap="square" lIns="0" tIns="0" rIns="0" bIns="0" rtlCol="0" anchor="ctr"/>
          <a:lstStyle/>
          <a:p>
            <a:pPr indent="0" marL="0">
              <a:buNone/>
            </a:pPr>
            <a:r>
              <a:rPr lang="en-US" sz="1700" dirty="0">
                <a:solidFill>
                  <a:srgbClr val="FFFFFF"/>
                </a:solidFill>
                <a:latin typeface="Trebuchet MS" pitchFamily="34" charset="0"/>
                <a:ea typeface="Trebuchet MS" pitchFamily="34" charset="-122"/>
                <a:cs typeface="Trebuchet MS" pitchFamily="34" charset="-120"/>
              </a:rPr>
              <a:t>approved_fact_lookup</a:t>
            </a:r>
            <a:endParaRPr lang="en-US" sz="1700" dirty="0"/>
          </a:p>
        </p:txBody>
      </p:sp>
      <p:sp>
        <p:nvSpPr>
          <p:cNvPr id="12" name="Shape 10"/>
          <p:cNvSpPr/>
          <p:nvPr/>
        </p:nvSpPr>
        <p:spPr>
          <a:xfrm>
            <a:off x="8394192" y="2514600"/>
            <a:ext cx="3127248" cy="1600200"/>
          </a:xfrm>
          <a:prstGeom prst="roundRect">
            <a:avLst/>
          </a:prstGeom>
          <a:solidFill>
            <a:srgbClr val="FFFFFF"/>
          </a:solidFill>
          <a:ln w="12700">
            <a:solidFill>
              <a:srgbClr val="FFFFFF">
                <a:alpha val="0"/>
              </a:srgbClr>
            </a:solidFill>
            <a:prstDash val="solid"/>
          </a:ln>
        </p:spPr>
      </p:sp>
      <p:sp>
        <p:nvSpPr>
          <p:cNvPr id="13" name="Text 11"/>
          <p:cNvSpPr/>
          <p:nvPr/>
        </p:nvSpPr>
        <p:spPr>
          <a:xfrm>
            <a:off x="8650224" y="2752344"/>
            <a:ext cx="2633472" cy="457200"/>
          </a:xfrm>
          <a:prstGeom prst="rect">
            <a:avLst/>
          </a:prstGeom>
          <a:noFill/>
          <a:ln/>
        </p:spPr>
        <p:txBody>
          <a:bodyPr wrap="square" lIns="0" tIns="0" rIns="0" bIns="0" rtlCol="0" anchor="ctr"/>
          <a:lstStyle/>
          <a:p>
            <a:pPr indent="0" marL="0">
              <a:buNone/>
            </a:pPr>
            <a:r>
              <a:rPr lang="en-US" sz="2500" b="1" dirty="0">
                <a:solidFill>
                  <a:srgbClr val="202C2B"/>
                </a:solidFill>
                <a:latin typeface="Trebuchet MS" pitchFamily="34" charset="0"/>
                <a:ea typeface="Trebuchet MS" pitchFamily="34" charset="-122"/>
                <a:cs typeface="Trebuchet MS" pitchFamily="34" charset="-120"/>
              </a:rPr>
              <a:t>Model draft</a:t>
            </a:r>
            <a:endParaRPr lang="en-US" sz="2500" dirty="0"/>
          </a:p>
        </p:txBody>
      </p:sp>
      <p:sp>
        <p:nvSpPr>
          <p:cNvPr id="14" name="Text 12"/>
          <p:cNvSpPr/>
          <p:nvPr/>
        </p:nvSpPr>
        <p:spPr>
          <a:xfrm>
            <a:off x="8650224" y="3410712"/>
            <a:ext cx="2633472" cy="420624"/>
          </a:xfrm>
          <a:prstGeom prst="rect">
            <a:avLst/>
          </a:prstGeom>
          <a:noFill/>
          <a:ln/>
        </p:spPr>
        <p:txBody>
          <a:bodyPr wrap="square" lIns="0" tIns="0" rIns="0" bIns="0" rtlCol="0" anchor="ctr"/>
          <a:lstStyle/>
          <a:p>
            <a:pPr indent="0" marL="0">
              <a:buNone/>
            </a:pPr>
            <a:r>
              <a:rPr lang="en-US" sz="1900" dirty="0">
                <a:solidFill>
                  <a:srgbClr val="55635E"/>
                </a:solidFill>
                <a:latin typeface="Trebuchet MS" pitchFamily="34" charset="0"/>
                <a:ea typeface="Trebuchet MS" pitchFamily="34" charset="-122"/>
                <a:cs typeface="Trebuchet MS" pitchFamily="34" charset="-120"/>
              </a:rPr>
              <a:t>Model uses the result</a:t>
            </a:r>
            <a:endParaRPr lang="en-US" sz="1900" dirty="0"/>
          </a:p>
        </p:txBody>
      </p:sp>
      <p:sp>
        <p:nvSpPr>
          <p:cNvPr id="15" name="Shape 13"/>
          <p:cNvSpPr/>
          <p:nvPr/>
        </p:nvSpPr>
        <p:spPr>
          <a:xfrm>
            <a:off x="3867912" y="3319272"/>
            <a:ext cx="566928" cy="0"/>
          </a:xfrm>
          <a:prstGeom prst="line">
            <a:avLst/>
          </a:prstGeom>
          <a:noFill/>
          <a:ln w="31750">
            <a:solidFill>
              <a:srgbClr val="31594D"/>
            </a:solidFill>
            <a:prstDash val="solid"/>
            <a:headEnd type="none"/>
            <a:tailEnd type="triangle"/>
          </a:ln>
        </p:spPr>
      </p:sp>
      <p:sp>
        <p:nvSpPr>
          <p:cNvPr id="16" name="Shape 14"/>
          <p:cNvSpPr/>
          <p:nvPr/>
        </p:nvSpPr>
        <p:spPr>
          <a:xfrm>
            <a:off x="7735824" y="3319272"/>
            <a:ext cx="566928" cy="0"/>
          </a:xfrm>
          <a:prstGeom prst="line">
            <a:avLst/>
          </a:prstGeom>
          <a:noFill/>
          <a:ln w="31750">
            <a:solidFill>
              <a:srgbClr val="31594D"/>
            </a:solidFill>
            <a:prstDash val="solid"/>
            <a:headEnd type="none"/>
            <a:tailEnd type="triangle"/>
          </a:ln>
        </p:spPr>
      </p:sp>
      <p:sp>
        <p:nvSpPr>
          <p:cNvPr id="17" name="Text 15"/>
          <p:cNvSpPr/>
          <p:nvPr/>
        </p:nvSpPr>
        <p:spPr>
          <a:xfrm>
            <a:off x="685800" y="4681728"/>
            <a:ext cx="10835640" cy="932688"/>
          </a:xfrm>
          <a:prstGeom prst="rect">
            <a:avLst/>
          </a:prstGeom>
          <a:noFill/>
          <a:ln/>
        </p:spPr>
        <p:txBody>
          <a:bodyPr wrap="square" lIns="0" tIns="0" rIns="0" bIns="0" rtlCol="0" anchor="ctr"/>
          <a:lstStyle/>
          <a:p>
            <a:pPr algn="ctr" indent="0" marL="0">
              <a:buNone/>
            </a:pPr>
            <a:r>
              <a:rPr lang="en-US" sz="2800" b="1" dirty="0">
                <a:solidFill>
                  <a:srgbClr val="31594D"/>
                </a:solidFill>
                <a:latin typeface="Georgia" pitchFamily="34" charset="0"/>
                <a:ea typeface="Georgia" pitchFamily="34" charset="-122"/>
                <a:cs typeface="Georgia" pitchFamily="34" charset="-120"/>
              </a:rPr>
              <a:t>Fixed data from code.</a:t>
            </a:r>
            <a:endParaRPr lang="en-US" sz="2800" dirty="0"/>
          </a:p>
          <a:p>
            <a:pPr algn="ctr" indent="0" marL="0">
              <a:buNone/>
            </a:pPr>
            <a:r>
              <a:rPr lang="en-US" sz="2800" b="1" dirty="0">
                <a:solidFill>
                  <a:srgbClr val="31594D"/>
                </a:solidFill>
                <a:latin typeface="Georgia" pitchFamily="34" charset="0"/>
                <a:ea typeface="Georgia" pitchFamily="34" charset="-122"/>
                <a:cs typeface="Georgia" pitchFamily="34" charset="-120"/>
              </a:rPr>
              <a:t>Variable choices from the model.</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621792" y="411480"/>
            <a:ext cx="6400800"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MUSEUM EXHIBIT STUDIO</a:t>
            </a:r>
            <a:endParaRPr lang="en-US" sz="1100" dirty="0"/>
          </a:p>
        </p:txBody>
      </p:sp>
      <p:sp>
        <p:nvSpPr>
          <p:cNvPr id="3" name="Text 1"/>
          <p:cNvSpPr/>
          <p:nvPr/>
        </p:nvSpPr>
        <p:spPr>
          <a:xfrm>
            <a:off x="621792" y="6172200"/>
            <a:ext cx="4937760" cy="219456"/>
          </a:xfrm>
          <a:prstGeom prst="rect">
            <a:avLst/>
          </a:prstGeom>
          <a:noFill/>
          <a:ln/>
        </p:spPr>
        <p:txBody>
          <a:bodyPr wrap="square" lIns="0" tIns="0" rIns="0" bIns="0" rtlCol="0" anchor="ctr"/>
          <a:lstStyle/>
          <a:p>
            <a:pPr indent="0" marL="0">
              <a:buNone/>
            </a:pPr>
            <a:r>
              <a:rPr lang="en-US" sz="1050" dirty="0">
                <a:solidFill>
                  <a:srgbClr val="55635E"/>
                </a:solidFill>
                <a:latin typeface="Trebuchet MS" pitchFamily="34" charset="0"/>
                <a:ea typeface="Trebuchet MS" pitchFamily="34" charset="-122"/>
                <a:cs typeface="Trebuchet MS" pitchFamily="34" charset="-120"/>
              </a:rPr>
              <a:t>GitHub Copilot SDK workshop</a:t>
            </a:r>
            <a:endParaRPr lang="en-US" sz="1050" dirty="0"/>
          </a:p>
        </p:txBody>
      </p:sp>
      <p:sp>
        <p:nvSpPr>
          <p:cNvPr id="4" name="Text 2"/>
          <p:cNvSpPr/>
          <p:nvPr/>
        </p:nvSpPr>
        <p:spPr>
          <a:xfrm>
            <a:off x="6720840" y="6172200"/>
            <a:ext cx="4846320" cy="219456"/>
          </a:xfrm>
          <a:prstGeom prst="rect">
            <a:avLst/>
          </a:prstGeom>
          <a:noFill/>
          <a:ln/>
        </p:spPr>
        <p:txBody>
          <a:bodyPr wrap="square" lIns="0" tIns="0" rIns="0" bIns="0" rtlCol="0" anchor="ctr"/>
          <a:lstStyle/>
          <a:p>
            <a:pPr algn="r" indent="0" marL="0">
              <a:buNone/>
            </a:pPr>
            <a:r>
              <a:rPr lang="en-US" sz="1050" dirty="0">
                <a:solidFill>
                  <a:srgbClr val="55635E"/>
                </a:solidFill>
                <a:latin typeface="Trebuchet MS" pitchFamily="34" charset="0"/>
                <a:ea typeface="Trebuchet MS" pitchFamily="34" charset="-122"/>
                <a:cs typeface="Trebuchet MS" pitchFamily="34" charset="-120"/>
              </a:rPr>
              <a:t>05  /  BEFORE STEPS 5-6</a:t>
            </a:r>
            <a:endParaRPr lang="en-US" sz="1050" dirty="0"/>
          </a:p>
        </p:txBody>
      </p:sp>
      <p:sp>
        <p:nvSpPr>
          <p:cNvPr id="5" name="Text 3"/>
          <p:cNvSpPr/>
          <p:nvPr/>
        </p:nvSpPr>
        <p:spPr>
          <a:xfrm>
            <a:off x="621792" y="841248"/>
            <a:ext cx="10789920" cy="1261872"/>
          </a:xfrm>
          <a:prstGeom prst="rect">
            <a:avLst/>
          </a:prstGeom>
          <a:noFill/>
          <a:ln/>
        </p:spPr>
        <p:txBody>
          <a:bodyPr wrap="square" lIns="0" tIns="0" rIns="0" bIns="0" rtlCol="0" anchor="t"/>
          <a:lstStyle/>
          <a:p>
            <a:pPr indent="0" marL="0">
              <a:buNone/>
            </a:pPr>
            <a:r>
              <a:rPr lang="en-US" sz="3900" b="1" dirty="0">
                <a:solidFill>
                  <a:srgbClr val="202C2B"/>
                </a:solidFill>
                <a:latin typeface="Georgia" pitchFamily="34" charset="0"/>
                <a:ea typeface="Georgia" pitchFamily="34" charset="-122"/>
                <a:cs typeface="Georgia" pitchFamily="34" charset="-120"/>
              </a:rPr>
              <a:t>Ask for a draft.</a:t>
            </a:r>
            <a:endParaRPr lang="en-US" sz="3900" dirty="0"/>
          </a:p>
          <a:p>
            <a:pPr indent="0" marL="0">
              <a:buNone/>
            </a:pPr>
            <a:r>
              <a:rPr lang="en-US" sz="3900" b="1" dirty="0">
                <a:solidFill>
                  <a:srgbClr val="202C2B"/>
                </a:solidFill>
                <a:latin typeface="Georgia" pitchFamily="34" charset="0"/>
                <a:ea typeface="Georgia" pitchFamily="34" charset="-122"/>
                <a:cs typeface="Georgia" pitchFamily="34" charset="-120"/>
              </a:rPr>
              <a:t>Check the result.</a:t>
            </a:r>
            <a:endParaRPr lang="en-US" sz="3900" dirty="0"/>
          </a:p>
        </p:txBody>
      </p:sp>
      <p:sp>
        <p:nvSpPr>
          <p:cNvPr id="6" name="Shape 4"/>
          <p:cNvSpPr/>
          <p:nvPr/>
        </p:nvSpPr>
        <p:spPr>
          <a:xfrm>
            <a:off x="667512" y="2404872"/>
            <a:ext cx="5193792" cy="2331720"/>
          </a:xfrm>
          <a:prstGeom prst="rect">
            <a:avLst/>
          </a:prstGeom>
          <a:solidFill>
            <a:srgbClr val="EBCABD"/>
          </a:solidFill>
          <a:ln w="12700">
            <a:solidFill>
              <a:srgbClr val="EBCABD">
                <a:alpha val="0"/>
              </a:srgbClr>
            </a:solidFill>
            <a:prstDash val="solid"/>
          </a:ln>
        </p:spPr>
      </p:sp>
      <p:sp>
        <p:nvSpPr>
          <p:cNvPr id="7" name="Shape 5"/>
          <p:cNvSpPr/>
          <p:nvPr/>
        </p:nvSpPr>
        <p:spPr>
          <a:xfrm>
            <a:off x="6236208" y="2404872"/>
            <a:ext cx="5285232" cy="2331720"/>
          </a:xfrm>
          <a:prstGeom prst="rect">
            <a:avLst/>
          </a:prstGeom>
          <a:solidFill>
            <a:srgbClr val="D9E3D4"/>
          </a:solidFill>
          <a:ln w="12700">
            <a:solidFill>
              <a:srgbClr val="D9E3D4">
                <a:alpha val="0"/>
              </a:srgbClr>
            </a:solidFill>
            <a:prstDash val="solid"/>
          </a:ln>
        </p:spPr>
      </p:sp>
      <p:sp>
        <p:nvSpPr>
          <p:cNvPr id="8" name="Text 6"/>
          <p:cNvSpPr/>
          <p:nvPr/>
        </p:nvSpPr>
        <p:spPr>
          <a:xfrm>
            <a:off x="960120" y="2724912"/>
            <a:ext cx="4480560"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THE PROMPT REQUESTS</a:t>
            </a:r>
            <a:endParaRPr lang="en-US" sz="1100" dirty="0"/>
          </a:p>
        </p:txBody>
      </p:sp>
      <p:sp>
        <p:nvSpPr>
          <p:cNvPr id="9" name="Text 7"/>
          <p:cNvSpPr/>
          <p:nvPr/>
        </p:nvSpPr>
        <p:spPr>
          <a:xfrm>
            <a:off x="960120" y="3218688"/>
            <a:ext cx="4553712" cy="649224"/>
          </a:xfrm>
          <a:prstGeom prst="rect">
            <a:avLst/>
          </a:prstGeom>
          <a:noFill/>
          <a:ln/>
        </p:spPr>
        <p:txBody>
          <a:bodyPr wrap="square" lIns="0" tIns="0" rIns="0" bIns="0" rtlCol="0" anchor="ctr"/>
          <a:lstStyle/>
          <a:p>
            <a:pPr indent="0" marL="0">
              <a:buNone/>
            </a:pPr>
            <a:r>
              <a:rPr lang="en-US" sz="3600" b="1" dirty="0">
                <a:solidFill>
                  <a:srgbClr val="202C2B"/>
                </a:solidFill>
                <a:latin typeface="Georgia" pitchFamily="34" charset="0"/>
                <a:ea typeface="Georgia" pitchFamily="34" charset="-122"/>
                <a:cs typeface="Georgia" pitchFamily="34" charset="-120"/>
              </a:rPr>
              <a:t>100-140 words</a:t>
            </a:r>
            <a:endParaRPr lang="en-US" sz="3600" dirty="0"/>
          </a:p>
        </p:txBody>
      </p:sp>
      <p:sp>
        <p:nvSpPr>
          <p:cNvPr id="10" name="Text 8"/>
          <p:cNvSpPr/>
          <p:nvPr/>
        </p:nvSpPr>
        <p:spPr>
          <a:xfrm>
            <a:off x="960120" y="4105656"/>
            <a:ext cx="4553712" cy="320040"/>
          </a:xfrm>
          <a:prstGeom prst="rect">
            <a:avLst/>
          </a:prstGeom>
          <a:noFill/>
          <a:ln/>
        </p:spPr>
        <p:txBody>
          <a:bodyPr wrap="square" lIns="0" tIns="0" rIns="0" bIns="0" rtlCol="0" anchor="ctr"/>
          <a:lstStyle/>
          <a:p>
            <a:pPr indent="0" marL="0">
              <a:buNone/>
            </a:pPr>
            <a:r>
              <a:rPr lang="en-US" sz="2000" dirty="0">
                <a:solidFill>
                  <a:srgbClr val="202C2B"/>
                </a:solidFill>
                <a:latin typeface="Trebuchet MS" pitchFamily="34" charset="0"/>
                <a:ea typeface="Trebuchet MS" pitchFamily="34" charset="-122"/>
                <a:cs typeface="Trebuchet MS" pitchFamily="34" charset="-120"/>
              </a:rPr>
              <a:t>The model may miss the target.</a:t>
            </a:r>
            <a:endParaRPr lang="en-US" sz="2000" dirty="0"/>
          </a:p>
        </p:txBody>
      </p:sp>
      <p:sp>
        <p:nvSpPr>
          <p:cNvPr id="11" name="Text 9"/>
          <p:cNvSpPr/>
          <p:nvPr/>
        </p:nvSpPr>
        <p:spPr>
          <a:xfrm>
            <a:off x="6547104" y="2724912"/>
            <a:ext cx="4553712"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EXAMPLE CHECK RESULT</a:t>
            </a:r>
            <a:endParaRPr lang="en-US" sz="1100" dirty="0"/>
          </a:p>
        </p:txBody>
      </p:sp>
      <p:sp>
        <p:nvSpPr>
          <p:cNvPr id="12" name="Text 10"/>
          <p:cNvSpPr/>
          <p:nvPr/>
        </p:nvSpPr>
        <p:spPr>
          <a:xfrm>
            <a:off x="6547104" y="3218688"/>
            <a:ext cx="4553712" cy="649224"/>
          </a:xfrm>
          <a:prstGeom prst="rect">
            <a:avLst/>
          </a:prstGeom>
          <a:noFill/>
          <a:ln/>
        </p:spPr>
        <p:txBody>
          <a:bodyPr wrap="square" lIns="0" tIns="0" rIns="0" bIns="0" rtlCol="0" anchor="ctr"/>
          <a:lstStyle/>
          <a:p>
            <a:pPr indent="0" marL="0">
              <a:buNone/>
            </a:pPr>
            <a:r>
              <a:rPr lang="en-US" sz="3200" b="1" dirty="0">
                <a:solidFill>
                  <a:srgbClr val="31594D"/>
                </a:solidFill>
                <a:latin typeface="Georgia" pitchFamily="34" charset="0"/>
                <a:ea typeface="Georgia" pitchFamily="34" charset="-122"/>
                <a:cs typeface="Georgia" pitchFamily="34" charset="-120"/>
              </a:rPr>
              <a:t>126 words: PASS</a:t>
            </a:r>
            <a:endParaRPr lang="en-US" sz="3200" dirty="0"/>
          </a:p>
        </p:txBody>
      </p:sp>
      <p:sp>
        <p:nvSpPr>
          <p:cNvPr id="13" name="Text 11"/>
          <p:cNvSpPr/>
          <p:nvPr/>
        </p:nvSpPr>
        <p:spPr>
          <a:xfrm>
            <a:off x="6547104" y="4105656"/>
            <a:ext cx="4553712" cy="320040"/>
          </a:xfrm>
          <a:prstGeom prst="rect">
            <a:avLst/>
          </a:prstGeom>
          <a:noFill/>
          <a:ln/>
        </p:spPr>
        <p:txBody>
          <a:bodyPr wrap="square" lIns="0" tIns="0" rIns="0" bIns="0" rtlCol="0" anchor="ctr"/>
          <a:lstStyle/>
          <a:p>
            <a:pPr indent="0" marL="0">
              <a:buNone/>
            </a:pPr>
            <a:r>
              <a:rPr lang="en-US" sz="2000" dirty="0">
                <a:solidFill>
                  <a:srgbClr val="202C2B"/>
                </a:solidFill>
                <a:latin typeface="Trebuchet MS" pitchFamily="34" charset="0"/>
                <a:ea typeface="Trebuchet MS" pitchFamily="34" charset="-122"/>
                <a:cs typeface="Trebuchet MS" pitchFamily="34" charset="-120"/>
              </a:rPr>
              <a:t>The same text gets the same check.</a:t>
            </a:r>
            <a:endParaRPr lang="en-US" sz="2000" dirty="0"/>
          </a:p>
        </p:txBody>
      </p:sp>
      <p:sp>
        <p:nvSpPr>
          <p:cNvPr id="14" name="Text 12"/>
          <p:cNvSpPr/>
          <p:nvPr/>
        </p:nvSpPr>
        <p:spPr>
          <a:xfrm>
            <a:off x="685800" y="5330952"/>
            <a:ext cx="10607040" cy="521208"/>
          </a:xfrm>
          <a:prstGeom prst="rect">
            <a:avLst/>
          </a:prstGeom>
          <a:noFill/>
          <a:ln/>
        </p:spPr>
        <p:txBody>
          <a:bodyPr wrap="square" lIns="0" tIns="0" rIns="0" bIns="0" rtlCol="0" anchor="ctr"/>
          <a:lstStyle/>
          <a:p>
            <a:pPr indent="0" marL="0">
              <a:buNone/>
            </a:pPr>
            <a:r>
              <a:rPr lang="en-US" sz="2600" b="1" dirty="0">
                <a:solidFill>
                  <a:srgbClr val="AD4D36"/>
                </a:solidFill>
                <a:latin typeface="Trebuchet MS" pitchFamily="34" charset="0"/>
                <a:ea typeface="Trebuchet MS" pitchFamily="34" charset="-122"/>
                <a:cs typeface="Trebuchet MS" pitchFamily="34" charset="-120"/>
              </a:rPr>
              <a:t>Neither proves that a historical claim is true.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7"/>
        </a:solidFill>
      </p:bgPr>
    </p:bg>
    <p:spTree>
      <p:nvGrpSpPr>
        <p:cNvPr id="1" name=""/>
        <p:cNvGrpSpPr/>
        <p:nvPr/>
      </p:nvGrpSpPr>
      <p:grpSpPr>
        <a:xfrm>
          <a:off x="0" y="0"/>
          <a:ext cx="0" cy="0"/>
          <a:chOff x="0" y="0"/>
          <a:chExt cx="0" cy="0"/>
        </a:xfrm>
      </p:grpSpPr>
      <p:sp>
        <p:nvSpPr>
          <p:cNvPr id="2" name="Text 0"/>
          <p:cNvSpPr/>
          <p:nvPr/>
        </p:nvSpPr>
        <p:spPr>
          <a:xfrm>
            <a:off x="621792" y="411480"/>
            <a:ext cx="6400800"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MUSEUM EXHIBIT STUDIO</a:t>
            </a:r>
            <a:endParaRPr lang="en-US" sz="1100" dirty="0"/>
          </a:p>
        </p:txBody>
      </p:sp>
      <p:sp>
        <p:nvSpPr>
          <p:cNvPr id="3" name="Text 1"/>
          <p:cNvSpPr/>
          <p:nvPr/>
        </p:nvSpPr>
        <p:spPr>
          <a:xfrm>
            <a:off x="621792" y="6172200"/>
            <a:ext cx="4937760" cy="219456"/>
          </a:xfrm>
          <a:prstGeom prst="rect">
            <a:avLst/>
          </a:prstGeom>
          <a:noFill/>
          <a:ln/>
        </p:spPr>
        <p:txBody>
          <a:bodyPr wrap="square" lIns="0" tIns="0" rIns="0" bIns="0" rtlCol="0" anchor="ctr"/>
          <a:lstStyle/>
          <a:p>
            <a:pPr indent="0" marL="0">
              <a:buNone/>
            </a:pPr>
            <a:r>
              <a:rPr lang="en-US" sz="1050" dirty="0">
                <a:solidFill>
                  <a:srgbClr val="55635E"/>
                </a:solidFill>
                <a:latin typeface="Trebuchet MS" pitchFamily="34" charset="0"/>
                <a:ea typeface="Trebuchet MS" pitchFamily="34" charset="-122"/>
                <a:cs typeface="Trebuchet MS" pitchFamily="34" charset="-120"/>
              </a:rPr>
              <a:t>GitHub Copilot SDK workshop</a:t>
            </a:r>
            <a:endParaRPr lang="en-US" sz="1050" dirty="0"/>
          </a:p>
        </p:txBody>
      </p:sp>
      <p:sp>
        <p:nvSpPr>
          <p:cNvPr id="4" name="Text 2"/>
          <p:cNvSpPr/>
          <p:nvPr/>
        </p:nvSpPr>
        <p:spPr>
          <a:xfrm>
            <a:off x="6720840" y="6172200"/>
            <a:ext cx="4846320" cy="219456"/>
          </a:xfrm>
          <a:prstGeom prst="rect">
            <a:avLst/>
          </a:prstGeom>
          <a:noFill/>
          <a:ln/>
        </p:spPr>
        <p:txBody>
          <a:bodyPr wrap="square" lIns="0" tIns="0" rIns="0" bIns="0" rtlCol="0" anchor="ctr"/>
          <a:lstStyle/>
          <a:p>
            <a:pPr algn="r" indent="0" marL="0">
              <a:buNone/>
            </a:pPr>
            <a:r>
              <a:rPr lang="en-US" sz="1050" dirty="0">
                <a:solidFill>
                  <a:srgbClr val="55635E"/>
                </a:solidFill>
                <a:latin typeface="Trebuchet MS" pitchFamily="34" charset="0"/>
                <a:ea typeface="Trebuchet MS" pitchFamily="34" charset="-122"/>
                <a:cs typeface="Trebuchet MS" pitchFamily="34" charset="-120"/>
              </a:rPr>
              <a:t>06  /  BEFORE STEP 7</a:t>
            </a:r>
            <a:endParaRPr lang="en-US" sz="1050" dirty="0"/>
          </a:p>
        </p:txBody>
      </p:sp>
      <p:sp>
        <p:nvSpPr>
          <p:cNvPr id="5" name="Text 3"/>
          <p:cNvSpPr/>
          <p:nvPr/>
        </p:nvSpPr>
        <p:spPr>
          <a:xfrm>
            <a:off x="621792" y="841248"/>
            <a:ext cx="10789920" cy="1261872"/>
          </a:xfrm>
          <a:prstGeom prst="rect">
            <a:avLst/>
          </a:prstGeom>
          <a:noFill/>
          <a:ln/>
        </p:spPr>
        <p:txBody>
          <a:bodyPr wrap="square" lIns="0" tIns="0" rIns="0" bIns="0" rtlCol="0" anchor="t"/>
          <a:lstStyle/>
          <a:p>
            <a:pPr indent="0" marL="0">
              <a:buNone/>
            </a:pPr>
            <a:r>
              <a:rPr lang="en-US" sz="3900" b="1" dirty="0">
                <a:solidFill>
                  <a:srgbClr val="202C2B"/>
                </a:solidFill>
                <a:latin typeface="Georgia" pitchFamily="34" charset="0"/>
                <a:ea typeface="Georgia" pitchFamily="34" charset="-122"/>
                <a:cs typeface="Georgia" pitchFamily="34" charset="-120"/>
              </a:rPr>
              <a:t>Research is a separate conversation.</a:t>
            </a:r>
            <a:endParaRPr lang="en-US" sz="3900" dirty="0"/>
          </a:p>
        </p:txBody>
      </p:sp>
      <p:sp>
        <p:nvSpPr>
          <p:cNvPr id="6" name="Shape 4"/>
          <p:cNvSpPr/>
          <p:nvPr/>
        </p:nvSpPr>
        <p:spPr>
          <a:xfrm>
            <a:off x="4023360" y="2029968"/>
            <a:ext cx="4160520" cy="594360"/>
          </a:xfrm>
          <a:prstGeom prst="roundRect">
            <a:avLst/>
          </a:prstGeom>
          <a:solidFill>
            <a:srgbClr val="202C2B"/>
          </a:solidFill>
          <a:ln w="12700">
            <a:solidFill>
              <a:srgbClr val="202C2B">
                <a:alpha val="0"/>
              </a:srgbClr>
            </a:solidFill>
            <a:prstDash val="solid"/>
          </a:ln>
        </p:spPr>
      </p:sp>
      <p:sp>
        <p:nvSpPr>
          <p:cNvPr id="7" name="Text 5"/>
          <p:cNvSpPr/>
          <p:nvPr/>
        </p:nvSpPr>
        <p:spPr>
          <a:xfrm>
            <a:off x="4251960" y="2167128"/>
            <a:ext cx="3703320" cy="29260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Educator-approved facts</a:t>
            </a:r>
            <a:endParaRPr lang="en-US" sz="2200" dirty="0"/>
          </a:p>
        </p:txBody>
      </p:sp>
      <p:sp>
        <p:nvSpPr>
          <p:cNvPr id="8" name="Shape 6"/>
          <p:cNvSpPr/>
          <p:nvPr/>
        </p:nvSpPr>
        <p:spPr>
          <a:xfrm>
            <a:off x="2907792" y="2743200"/>
            <a:ext cx="0" cy="411480"/>
          </a:xfrm>
          <a:prstGeom prst="line">
            <a:avLst/>
          </a:prstGeom>
          <a:noFill/>
          <a:ln w="31750">
            <a:solidFill>
              <a:srgbClr val="31594D"/>
            </a:solidFill>
            <a:prstDash val="solid"/>
            <a:headEnd type="none"/>
            <a:tailEnd type="triangle"/>
          </a:ln>
        </p:spPr>
      </p:sp>
      <p:sp>
        <p:nvSpPr>
          <p:cNvPr id="9" name="Shape 7"/>
          <p:cNvSpPr/>
          <p:nvPr/>
        </p:nvSpPr>
        <p:spPr>
          <a:xfrm>
            <a:off x="9253728" y="2743200"/>
            <a:ext cx="0" cy="411480"/>
          </a:xfrm>
          <a:prstGeom prst="line">
            <a:avLst/>
          </a:prstGeom>
          <a:noFill/>
          <a:ln w="31750">
            <a:solidFill>
              <a:srgbClr val="31594D"/>
            </a:solidFill>
            <a:prstDash val="solid"/>
            <a:headEnd type="none"/>
            <a:tailEnd type="triangle"/>
          </a:ln>
        </p:spPr>
      </p:sp>
      <p:sp>
        <p:nvSpPr>
          <p:cNvPr id="10" name="Shape 8"/>
          <p:cNvSpPr/>
          <p:nvPr/>
        </p:nvSpPr>
        <p:spPr>
          <a:xfrm>
            <a:off x="2907792" y="2743200"/>
            <a:ext cx="6345936" cy="0"/>
          </a:xfrm>
          <a:prstGeom prst="line">
            <a:avLst/>
          </a:prstGeom>
          <a:noFill/>
          <a:ln w="25400">
            <a:solidFill>
              <a:srgbClr val="31594D"/>
            </a:solidFill>
            <a:prstDash val="solid"/>
          </a:ln>
        </p:spPr>
      </p:sp>
      <p:sp>
        <p:nvSpPr>
          <p:cNvPr id="11" name="Shape 9"/>
          <p:cNvSpPr/>
          <p:nvPr/>
        </p:nvSpPr>
        <p:spPr>
          <a:xfrm>
            <a:off x="6108192" y="2642616"/>
            <a:ext cx="0" cy="100584"/>
          </a:xfrm>
          <a:prstGeom prst="line">
            <a:avLst/>
          </a:prstGeom>
          <a:noFill/>
          <a:ln w="25400">
            <a:solidFill>
              <a:srgbClr val="31594D"/>
            </a:solidFill>
            <a:prstDash val="solid"/>
          </a:ln>
        </p:spPr>
      </p:sp>
      <p:sp>
        <p:nvSpPr>
          <p:cNvPr id="12" name="Shape 10"/>
          <p:cNvSpPr/>
          <p:nvPr/>
        </p:nvSpPr>
        <p:spPr>
          <a:xfrm>
            <a:off x="539496" y="3063240"/>
            <a:ext cx="4754880" cy="2743200"/>
          </a:xfrm>
          <a:prstGeom prst="roundRect">
            <a:avLst/>
          </a:prstGeom>
          <a:solidFill>
            <a:srgbClr val="F4F0E7">
              <a:alpha val="0"/>
            </a:srgbClr>
          </a:solidFill>
          <a:ln w="13970">
            <a:solidFill>
              <a:srgbClr val="31594D"/>
            </a:solidFill>
            <a:prstDash val="dash"/>
          </a:ln>
        </p:spPr>
      </p:sp>
      <p:sp>
        <p:nvSpPr>
          <p:cNvPr id="13" name="Shape 11"/>
          <p:cNvSpPr/>
          <p:nvPr/>
        </p:nvSpPr>
        <p:spPr>
          <a:xfrm>
            <a:off x="6894576" y="3063240"/>
            <a:ext cx="4754880" cy="2743200"/>
          </a:xfrm>
          <a:prstGeom prst="roundRect">
            <a:avLst/>
          </a:prstGeom>
          <a:solidFill>
            <a:srgbClr val="F4F0E7">
              <a:alpha val="0"/>
            </a:srgbClr>
          </a:solidFill>
          <a:ln w="13970">
            <a:solidFill>
              <a:srgbClr val="AD4D36"/>
            </a:solidFill>
            <a:prstDash val="dash"/>
          </a:ln>
        </p:spPr>
      </p:sp>
      <p:sp>
        <p:nvSpPr>
          <p:cNvPr id="14" name="Shape 12"/>
          <p:cNvSpPr/>
          <p:nvPr/>
        </p:nvSpPr>
        <p:spPr>
          <a:xfrm>
            <a:off x="667512" y="3209544"/>
            <a:ext cx="4480560" cy="1243584"/>
          </a:xfrm>
          <a:prstGeom prst="roundRect">
            <a:avLst/>
          </a:prstGeom>
          <a:solidFill>
            <a:srgbClr val="D9E3D4"/>
          </a:solidFill>
          <a:ln w="12700">
            <a:solidFill>
              <a:srgbClr val="D9E3D4">
                <a:alpha val="0"/>
              </a:srgbClr>
            </a:solidFill>
            <a:prstDash val="solid"/>
          </a:ln>
        </p:spPr>
      </p:sp>
      <p:sp>
        <p:nvSpPr>
          <p:cNvPr id="15" name="Shape 13"/>
          <p:cNvSpPr/>
          <p:nvPr/>
        </p:nvSpPr>
        <p:spPr>
          <a:xfrm>
            <a:off x="7022592" y="3209544"/>
            <a:ext cx="4498848" cy="1243584"/>
          </a:xfrm>
          <a:prstGeom prst="roundRect">
            <a:avLst/>
          </a:prstGeom>
          <a:solidFill>
            <a:srgbClr val="EBCABD"/>
          </a:solidFill>
          <a:ln w="12700">
            <a:solidFill>
              <a:srgbClr val="EBCABD">
                <a:alpha val="0"/>
              </a:srgbClr>
            </a:solidFill>
            <a:prstDash val="solid"/>
          </a:ln>
        </p:spPr>
      </p:sp>
      <p:sp>
        <p:nvSpPr>
          <p:cNvPr id="16" name="Text 14"/>
          <p:cNvSpPr/>
          <p:nvPr/>
        </p:nvSpPr>
        <p:spPr>
          <a:xfrm>
            <a:off x="960120" y="3447288"/>
            <a:ext cx="3877056" cy="365760"/>
          </a:xfrm>
          <a:prstGeom prst="rect">
            <a:avLst/>
          </a:prstGeom>
          <a:noFill/>
          <a:ln/>
        </p:spPr>
        <p:txBody>
          <a:bodyPr wrap="square" lIns="0" tIns="0" rIns="0" bIns="0" rtlCol="0" anchor="ctr"/>
          <a:lstStyle/>
          <a:p>
            <a:pPr indent="0" marL="0">
              <a:buNone/>
            </a:pPr>
            <a:r>
              <a:rPr lang="en-US" sz="2700" b="1" dirty="0">
                <a:solidFill>
                  <a:srgbClr val="31594D"/>
                </a:solidFill>
                <a:latin typeface="Trebuchet MS" pitchFamily="34" charset="0"/>
                <a:ea typeface="Trebuchet MS" pitchFamily="34" charset="-122"/>
                <a:cs typeface="Trebuchet MS" pitchFamily="34" charset="-120"/>
              </a:rPr>
              <a:t>Drafting session</a:t>
            </a:r>
            <a:endParaRPr lang="en-US" sz="2700" dirty="0"/>
          </a:p>
        </p:txBody>
      </p:sp>
      <p:sp>
        <p:nvSpPr>
          <p:cNvPr id="17" name="Text 15"/>
          <p:cNvSpPr/>
          <p:nvPr/>
        </p:nvSpPr>
        <p:spPr>
          <a:xfrm>
            <a:off x="960120" y="3968496"/>
            <a:ext cx="3877056" cy="283464"/>
          </a:xfrm>
          <a:prstGeom prst="rect">
            <a:avLst/>
          </a:prstGeom>
          <a:noFill/>
          <a:ln/>
        </p:spPr>
        <p:txBody>
          <a:bodyPr wrap="square" lIns="0" tIns="0" rIns="0" bIns="0" rtlCol="0" anchor="ctr"/>
          <a:lstStyle/>
          <a:p>
            <a:pPr indent="0" marL="0">
              <a:buNone/>
            </a:pPr>
            <a:r>
              <a:rPr lang="en-US" sz="2000" dirty="0">
                <a:solidFill>
                  <a:srgbClr val="202C2B"/>
                </a:solidFill>
                <a:latin typeface="Trebuchet MS" pitchFamily="34" charset="0"/>
                <a:ea typeface="Trebuchet MS" pitchFamily="34" charset="-122"/>
                <a:cs typeface="Trebuchet MS" pitchFamily="34" charset="-120"/>
              </a:rPr>
              <a:t>One local fact tool</a:t>
            </a:r>
            <a:endParaRPr lang="en-US" sz="2000" dirty="0"/>
          </a:p>
        </p:txBody>
      </p:sp>
      <p:sp>
        <p:nvSpPr>
          <p:cNvPr id="18" name="Text 16"/>
          <p:cNvSpPr/>
          <p:nvPr/>
        </p:nvSpPr>
        <p:spPr>
          <a:xfrm>
            <a:off x="7324344" y="3447288"/>
            <a:ext cx="3886200" cy="365760"/>
          </a:xfrm>
          <a:prstGeom prst="rect">
            <a:avLst/>
          </a:prstGeom>
          <a:noFill/>
          <a:ln/>
        </p:spPr>
        <p:txBody>
          <a:bodyPr wrap="square" lIns="0" tIns="0" rIns="0" bIns="0" rtlCol="0" anchor="ctr"/>
          <a:lstStyle/>
          <a:p>
            <a:pPr indent="0" marL="0">
              <a:buNone/>
            </a:pPr>
            <a:r>
              <a:rPr lang="en-US" sz="2700" b="1" dirty="0">
                <a:solidFill>
                  <a:srgbClr val="AD4D36"/>
                </a:solidFill>
                <a:latin typeface="Trebuchet MS" pitchFamily="34" charset="0"/>
                <a:ea typeface="Trebuchet MS" pitchFamily="34" charset="-122"/>
                <a:cs typeface="Trebuchet MS" pitchFamily="34" charset="-120"/>
              </a:rPr>
              <a:t>Research session</a:t>
            </a:r>
            <a:endParaRPr lang="en-US" sz="2700" dirty="0"/>
          </a:p>
        </p:txBody>
      </p:sp>
      <p:sp>
        <p:nvSpPr>
          <p:cNvPr id="19" name="Text 17"/>
          <p:cNvSpPr/>
          <p:nvPr/>
        </p:nvSpPr>
        <p:spPr>
          <a:xfrm>
            <a:off x="7324344" y="3968496"/>
            <a:ext cx="3886200" cy="283464"/>
          </a:xfrm>
          <a:prstGeom prst="rect">
            <a:avLst/>
          </a:prstGeom>
          <a:noFill/>
          <a:ln/>
        </p:spPr>
        <p:txBody>
          <a:bodyPr wrap="square" lIns="0" tIns="0" rIns="0" bIns="0" rtlCol="0" anchor="ctr"/>
          <a:lstStyle/>
          <a:p>
            <a:pPr indent="0" marL="0">
              <a:buNone/>
            </a:pPr>
            <a:r>
              <a:rPr lang="en-US" sz="2000" dirty="0">
                <a:solidFill>
                  <a:srgbClr val="202C2B"/>
                </a:solidFill>
                <a:latin typeface="Trebuchet MS" pitchFamily="34" charset="0"/>
                <a:ea typeface="Trebuchet MS" pitchFamily="34" charset="-122"/>
                <a:cs typeface="Trebuchet MS" pitchFamily="34" charset="-120"/>
              </a:rPr>
              <a:t>Two Wikipedia tools via MCP</a:t>
            </a:r>
            <a:endParaRPr lang="en-US" sz="2000" dirty="0"/>
          </a:p>
        </p:txBody>
      </p:sp>
      <p:sp>
        <p:nvSpPr>
          <p:cNvPr id="20" name="Shape 18"/>
          <p:cNvSpPr/>
          <p:nvPr/>
        </p:nvSpPr>
        <p:spPr>
          <a:xfrm>
            <a:off x="2907792" y="4498848"/>
            <a:ext cx="0" cy="182880"/>
          </a:xfrm>
          <a:prstGeom prst="line">
            <a:avLst/>
          </a:prstGeom>
          <a:noFill/>
          <a:ln w="31750">
            <a:solidFill>
              <a:srgbClr val="31594D"/>
            </a:solidFill>
            <a:prstDash val="solid"/>
            <a:headEnd type="none"/>
            <a:tailEnd type="triangle"/>
          </a:ln>
        </p:spPr>
      </p:sp>
      <p:sp>
        <p:nvSpPr>
          <p:cNvPr id="21" name="Shape 19"/>
          <p:cNvSpPr/>
          <p:nvPr/>
        </p:nvSpPr>
        <p:spPr>
          <a:xfrm>
            <a:off x="9253728" y="4498848"/>
            <a:ext cx="0" cy="182880"/>
          </a:xfrm>
          <a:prstGeom prst="line">
            <a:avLst/>
          </a:prstGeom>
          <a:noFill/>
          <a:ln w="31750">
            <a:solidFill>
              <a:srgbClr val="31594D"/>
            </a:solidFill>
            <a:prstDash val="solid"/>
            <a:headEnd type="none"/>
            <a:tailEnd type="triangle"/>
          </a:ln>
        </p:spPr>
      </p:sp>
      <p:sp>
        <p:nvSpPr>
          <p:cNvPr id="22" name="Text 20"/>
          <p:cNvSpPr/>
          <p:nvPr/>
        </p:nvSpPr>
        <p:spPr>
          <a:xfrm>
            <a:off x="896112" y="4983480"/>
            <a:ext cx="4206240" cy="557784"/>
          </a:xfrm>
          <a:prstGeom prst="rect">
            <a:avLst/>
          </a:prstGeom>
          <a:noFill/>
          <a:ln/>
        </p:spPr>
        <p:txBody>
          <a:bodyPr wrap="square" lIns="0" tIns="0" rIns="0" bIns="0" rtlCol="0" anchor="t"/>
          <a:lstStyle/>
          <a:p>
            <a:pPr indent="0" marL="0">
              <a:buNone/>
            </a:pPr>
            <a:r>
              <a:rPr lang="en-US" sz="2100" b="1" dirty="0">
                <a:solidFill>
                  <a:srgbClr val="31594D"/>
                </a:solidFill>
                <a:latin typeface="Trebuchet MS" pitchFamily="34" charset="0"/>
                <a:ea typeface="Trebuchet MS" pitchFamily="34" charset="-122"/>
                <a:cs typeface="Trebuchet MS" pitchFamily="34" charset="-120"/>
              </a:rPr>
              <a:t>Exhibit draft</a:t>
            </a:r>
            <a:endParaRPr lang="en-US" sz="2100" dirty="0"/>
          </a:p>
          <a:p>
            <a:pPr indent="0" marL="0">
              <a:buNone/>
            </a:pPr>
            <a:r>
              <a:rPr lang="en-US" sz="2100" b="1" dirty="0">
                <a:solidFill>
                  <a:srgbClr val="31594D"/>
                </a:solidFill>
                <a:latin typeface="Trebuchet MS" pitchFamily="34" charset="0"/>
                <a:ea typeface="Trebuchet MS" pitchFamily="34" charset="-122"/>
                <a:cs typeface="Trebuchet MS" pitchFamily="34" charset="-120"/>
              </a:rPr>
              <a:t>+ format checks</a:t>
            </a:r>
            <a:endParaRPr lang="en-US" sz="2100" dirty="0"/>
          </a:p>
        </p:txBody>
      </p:sp>
      <p:sp>
        <p:nvSpPr>
          <p:cNvPr id="23" name="Text 21"/>
          <p:cNvSpPr/>
          <p:nvPr/>
        </p:nvSpPr>
        <p:spPr>
          <a:xfrm>
            <a:off x="7269480" y="4983480"/>
            <a:ext cx="4114800" cy="557784"/>
          </a:xfrm>
          <a:prstGeom prst="rect">
            <a:avLst/>
          </a:prstGeom>
          <a:noFill/>
          <a:ln/>
        </p:spPr>
        <p:txBody>
          <a:bodyPr wrap="square" lIns="0" tIns="0" rIns="0" bIns="0" rtlCol="0" anchor="t"/>
          <a:lstStyle/>
          <a:p>
            <a:pPr indent="0" marL="0">
              <a:buNone/>
            </a:pPr>
            <a:r>
              <a:rPr lang="en-US" sz="2100" b="1" dirty="0">
                <a:solidFill>
                  <a:srgbClr val="AD4D36"/>
                </a:solidFill>
                <a:latin typeface="Trebuchet MS" pitchFamily="34" charset="0"/>
                <a:ea typeface="Trebuchet MS" pitchFamily="34" charset="-122"/>
                <a:cs typeface="Trebuchet MS" pitchFamily="34" charset="-120"/>
              </a:rPr>
              <a:t>Background notes</a:t>
            </a:r>
            <a:endParaRPr lang="en-US" sz="2100" dirty="0"/>
          </a:p>
          <a:p>
            <a:pPr indent="0" marL="0">
              <a:buNone/>
            </a:pPr>
            <a:r>
              <a:rPr lang="en-US" sz="2100" b="1" dirty="0">
                <a:solidFill>
                  <a:srgbClr val="AD4D36"/>
                </a:solidFill>
                <a:latin typeface="Trebuchet MS" pitchFamily="34" charset="0"/>
                <a:ea typeface="Trebuchet MS" pitchFamily="34" charset="-122"/>
                <a:cs typeface="Trebuchet MS" pitchFamily="34" charset="-120"/>
              </a:rPr>
              <a:t>+ unverified links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02C2B"/>
        </a:solidFill>
      </p:bgPr>
    </p:bg>
    <p:spTree>
      <p:nvGrpSpPr>
        <p:cNvPr id="1" name=""/>
        <p:cNvGrpSpPr/>
        <p:nvPr/>
      </p:nvGrpSpPr>
      <p:grpSpPr>
        <a:xfrm>
          <a:off x="0" y="0"/>
          <a:ext cx="0" cy="0"/>
          <a:chOff x="0" y="0"/>
          <a:chExt cx="0" cy="0"/>
        </a:xfrm>
      </p:grpSpPr>
      <p:sp>
        <p:nvSpPr>
          <p:cNvPr id="2" name="Text 0"/>
          <p:cNvSpPr/>
          <p:nvPr/>
        </p:nvSpPr>
        <p:spPr>
          <a:xfrm>
            <a:off x="621792" y="411480"/>
            <a:ext cx="6400800" cy="256032"/>
          </a:xfrm>
          <a:prstGeom prst="rect">
            <a:avLst/>
          </a:prstGeom>
          <a:noFill/>
          <a:ln/>
        </p:spPr>
        <p:txBody>
          <a:bodyPr wrap="square" lIns="0" tIns="0" rIns="0" bIns="0" rtlCol="0" anchor="ctr"/>
          <a:lstStyle/>
          <a:p>
            <a:pPr indent="0" marL="0">
              <a:buNone/>
            </a:pPr>
            <a:r>
              <a:rPr lang="en-US" sz="1100" b="1" spc="190" kern="0" dirty="0">
                <a:solidFill>
                  <a:srgbClr val="CDD8D1"/>
                </a:solidFill>
                <a:latin typeface="Trebuchet MS" pitchFamily="34" charset="0"/>
                <a:ea typeface="Trebuchet MS" pitchFamily="34" charset="-122"/>
                <a:cs typeface="Trebuchet MS" pitchFamily="34" charset="-120"/>
              </a:rPr>
              <a:t>MUSEUM EXHIBIT STUDIO</a:t>
            </a:r>
            <a:endParaRPr lang="en-US" sz="1100" dirty="0"/>
          </a:p>
        </p:txBody>
      </p:sp>
      <p:sp>
        <p:nvSpPr>
          <p:cNvPr id="3" name="Text 1"/>
          <p:cNvSpPr/>
          <p:nvPr/>
        </p:nvSpPr>
        <p:spPr>
          <a:xfrm>
            <a:off x="621792" y="6172200"/>
            <a:ext cx="4937760" cy="219456"/>
          </a:xfrm>
          <a:prstGeom prst="rect">
            <a:avLst/>
          </a:prstGeom>
          <a:noFill/>
          <a:ln/>
        </p:spPr>
        <p:txBody>
          <a:bodyPr wrap="square" lIns="0" tIns="0" rIns="0" bIns="0" rtlCol="0" anchor="ctr"/>
          <a:lstStyle/>
          <a:p>
            <a:pPr indent="0" marL="0">
              <a:buNone/>
            </a:pPr>
            <a:r>
              <a:rPr lang="en-US" sz="1050" dirty="0">
                <a:solidFill>
                  <a:srgbClr val="CDD8D1"/>
                </a:solidFill>
                <a:latin typeface="Trebuchet MS" pitchFamily="34" charset="0"/>
                <a:ea typeface="Trebuchet MS" pitchFamily="34" charset="-122"/>
                <a:cs typeface="Trebuchet MS" pitchFamily="34" charset="-120"/>
              </a:rPr>
              <a:t>GitHub Copilot SDK workshop</a:t>
            </a:r>
            <a:endParaRPr lang="en-US" sz="1050" dirty="0"/>
          </a:p>
        </p:txBody>
      </p:sp>
      <p:sp>
        <p:nvSpPr>
          <p:cNvPr id="4" name="Text 2"/>
          <p:cNvSpPr/>
          <p:nvPr/>
        </p:nvSpPr>
        <p:spPr>
          <a:xfrm>
            <a:off x="6720840" y="6172200"/>
            <a:ext cx="4846320" cy="219456"/>
          </a:xfrm>
          <a:prstGeom prst="rect">
            <a:avLst/>
          </a:prstGeom>
          <a:noFill/>
          <a:ln/>
        </p:spPr>
        <p:txBody>
          <a:bodyPr wrap="square" lIns="0" tIns="0" rIns="0" bIns="0" rtlCol="0" anchor="ctr"/>
          <a:lstStyle/>
          <a:p>
            <a:pPr algn="r" indent="0" marL="0">
              <a:buNone/>
            </a:pPr>
            <a:r>
              <a:rPr lang="en-US" sz="1050" dirty="0">
                <a:solidFill>
                  <a:srgbClr val="CDD8D1"/>
                </a:solidFill>
                <a:latin typeface="Trebuchet MS" pitchFamily="34" charset="0"/>
                <a:ea typeface="Trebuchet MS" pitchFamily="34" charset="-122"/>
                <a:cs typeface="Trebuchet MS" pitchFamily="34" charset="-120"/>
              </a:rPr>
              <a:t>07  /  OPTIONAL: BEFORE STEP 8</a:t>
            </a:r>
            <a:endParaRPr lang="en-US" sz="1050" dirty="0"/>
          </a:p>
        </p:txBody>
      </p:sp>
      <p:sp>
        <p:nvSpPr>
          <p:cNvPr id="5" name="Text 3"/>
          <p:cNvSpPr/>
          <p:nvPr/>
        </p:nvSpPr>
        <p:spPr>
          <a:xfrm>
            <a:off x="685800" y="905256"/>
            <a:ext cx="5669280" cy="256032"/>
          </a:xfrm>
          <a:prstGeom prst="rect">
            <a:avLst/>
          </a:prstGeom>
          <a:noFill/>
          <a:ln/>
        </p:spPr>
        <p:txBody>
          <a:bodyPr wrap="square" lIns="0" tIns="0" rIns="0" bIns="0" rtlCol="0" anchor="ctr"/>
          <a:lstStyle/>
          <a:p>
            <a:pPr indent="0" marL="0">
              <a:buNone/>
            </a:pPr>
            <a:r>
              <a:rPr lang="en-US" sz="1100" b="1" spc="190" kern="0" dirty="0">
                <a:solidFill>
                  <a:srgbClr val="CDD8D1"/>
                </a:solidFill>
                <a:latin typeface="Trebuchet MS" pitchFamily="34" charset="0"/>
                <a:ea typeface="Trebuchet MS" pitchFamily="34" charset="-122"/>
                <a:cs typeface="Trebuchet MS" pitchFamily="34" charset="-120"/>
              </a:rPr>
              <a:t>OPTIONAL EXTENSION</a:t>
            </a:r>
            <a:endParaRPr lang="en-US" sz="1100" dirty="0"/>
          </a:p>
        </p:txBody>
      </p:sp>
      <p:sp>
        <p:nvSpPr>
          <p:cNvPr id="6" name="Text 4"/>
          <p:cNvSpPr/>
          <p:nvPr/>
        </p:nvSpPr>
        <p:spPr>
          <a:xfrm>
            <a:off x="640080" y="1371600"/>
            <a:ext cx="5760720" cy="2596896"/>
          </a:xfrm>
          <a:prstGeom prst="rect">
            <a:avLst/>
          </a:prstGeom>
          <a:noFill/>
          <a:ln/>
        </p:spPr>
        <p:txBody>
          <a:bodyPr wrap="square" lIns="0" tIns="0" rIns="0" bIns="0" rtlCol="0" anchor="t"/>
          <a:lstStyle/>
          <a:p>
            <a:pPr indent="0" marL="0">
              <a:buNone/>
            </a:pPr>
            <a:r>
              <a:rPr lang="en-US" sz="4600" b="1" dirty="0">
                <a:solidFill>
                  <a:srgbClr val="F4F0E7"/>
                </a:solidFill>
                <a:latin typeface="Georgia" pitchFamily="34" charset="0"/>
                <a:ea typeface="Georgia" pitchFamily="34" charset="-122"/>
                <a:cs typeface="Georgia" pitchFamily="34" charset="-120"/>
              </a:rPr>
              <a:t>Allow the path.</a:t>
            </a:r>
            <a:endParaRPr lang="en-US" sz="4600" dirty="0"/>
          </a:p>
          <a:p>
            <a:pPr indent="0" marL="0">
              <a:buNone/>
            </a:pPr>
            <a:r>
              <a:rPr lang="en-US" sz="4600" b="1" dirty="0">
                <a:solidFill>
                  <a:srgbClr val="F4F0E7"/>
                </a:solidFill>
                <a:latin typeface="Georgia" pitchFamily="34" charset="0"/>
                <a:ea typeface="Georgia" pitchFamily="34" charset="-122"/>
                <a:cs typeface="Georgia" pitchFamily="34" charset="-120"/>
              </a:rPr>
              <a:t>Then check</a:t>
            </a:r>
            <a:endParaRPr lang="en-US" sz="4600" dirty="0"/>
          </a:p>
          <a:p>
            <a:pPr indent="0" marL="0">
              <a:buNone/>
            </a:pPr>
            <a:r>
              <a:rPr lang="en-US" sz="4600" b="1" dirty="0">
                <a:solidFill>
                  <a:srgbClr val="F4F0E7"/>
                </a:solidFill>
                <a:latin typeface="Georgia" pitchFamily="34" charset="0"/>
                <a:ea typeface="Georgia" pitchFamily="34" charset="-122"/>
                <a:cs typeface="Georgia" pitchFamily="34" charset="-120"/>
              </a:rPr>
              <a:t>the file.</a:t>
            </a:r>
            <a:endParaRPr lang="en-US" sz="4600" dirty="0"/>
          </a:p>
        </p:txBody>
      </p:sp>
      <p:sp>
        <p:nvSpPr>
          <p:cNvPr id="7" name="Text 5"/>
          <p:cNvSpPr/>
          <p:nvPr/>
        </p:nvSpPr>
        <p:spPr>
          <a:xfrm>
            <a:off x="685800" y="4434840"/>
            <a:ext cx="5486400" cy="914400"/>
          </a:xfrm>
          <a:prstGeom prst="rect">
            <a:avLst/>
          </a:prstGeom>
          <a:noFill/>
          <a:ln/>
        </p:spPr>
        <p:txBody>
          <a:bodyPr wrap="square" lIns="0" tIns="0" rIns="0" bIns="0" rtlCol="0" anchor="ctr"/>
          <a:lstStyle/>
          <a:p>
            <a:pPr indent="0" marL="0">
              <a:buNone/>
            </a:pPr>
            <a:r>
              <a:rPr lang="en-US" sz="2500" dirty="0">
                <a:solidFill>
                  <a:srgbClr val="CDD8D1"/>
                </a:solidFill>
                <a:latin typeface="Trebuchet MS" pitchFamily="34" charset="0"/>
                <a:ea typeface="Trebuchet MS" pitchFamily="34" charset="-122"/>
                <a:cs typeface="Trebuchet MS" pitchFamily="34" charset="-120"/>
              </a:rPr>
              <a:t>A model saying "created"</a:t>
            </a:r>
            <a:endParaRPr lang="en-US" sz="2500" dirty="0"/>
          </a:p>
          <a:p>
            <a:pPr indent="0" marL="0">
              <a:buNone/>
            </a:pPr>
            <a:r>
              <a:rPr lang="en-US" sz="2500" dirty="0">
                <a:solidFill>
                  <a:srgbClr val="CDD8D1"/>
                </a:solidFill>
                <a:latin typeface="Trebuchet MS" pitchFamily="34" charset="0"/>
                <a:ea typeface="Trebuchet MS" pitchFamily="34" charset="-122"/>
                <a:cs typeface="Trebuchet MS" pitchFamily="34" charset="-120"/>
              </a:rPr>
              <a:t>is not file verification.</a:t>
            </a:r>
            <a:endParaRPr lang="en-US" sz="2500" dirty="0"/>
          </a:p>
        </p:txBody>
      </p:sp>
      <p:sp>
        <p:nvSpPr>
          <p:cNvPr id="8" name="Shape 6"/>
          <p:cNvSpPr/>
          <p:nvPr/>
        </p:nvSpPr>
        <p:spPr>
          <a:xfrm>
            <a:off x="7360920" y="1426464"/>
            <a:ext cx="3977640" cy="4224528"/>
          </a:xfrm>
          <a:prstGeom prst="rect">
            <a:avLst/>
          </a:prstGeom>
          <a:solidFill>
            <a:srgbClr val="F4F0E7"/>
          </a:solidFill>
          <a:ln w="12700">
            <a:solidFill>
              <a:srgbClr val="F4F0E7">
                <a:alpha val="0"/>
              </a:srgbClr>
            </a:solidFill>
            <a:prstDash val="solid"/>
          </a:ln>
        </p:spPr>
      </p:sp>
      <p:sp>
        <p:nvSpPr>
          <p:cNvPr id="9" name="Shape 7"/>
          <p:cNvSpPr/>
          <p:nvPr/>
        </p:nvSpPr>
        <p:spPr>
          <a:xfrm>
            <a:off x="7360920" y="1426464"/>
            <a:ext cx="3977640" cy="658368"/>
          </a:xfrm>
          <a:prstGeom prst="rect">
            <a:avLst/>
          </a:prstGeom>
          <a:solidFill>
            <a:srgbClr val="D9E3D4"/>
          </a:solidFill>
          <a:ln w="12700">
            <a:solidFill>
              <a:srgbClr val="D9E3D4">
                <a:alpha val="0"/>
              </a:srgbClr>
            </a:solidFill>
            <a:prstDash val="solid"/>
          </a:ln>
        </p:spPr>
      </p:sp>
      <p:sp>
        <p:nvSpPr>
          <p:cNvPr id="10" name="Text 8"/>
          <p:cNvSpPr/>
          <p:nvPr/>
        </p:nvSpPr>
        <p:spPr>
          <a:xfrm>
            <a:off x="7635240" y="1618488"/>
            <a:ext cx="3429000" cy="274320"/>
          </a:xfrm>
          <a:prstGeom prst="rect">
            <a:avLst/>
          </a:prstGeom>
          <a:noFill/>
          <a:ln/>
        </p:spPr>
        <p:txBody>
          <a:bodyPr wrap="square" lIns="0" tIns="0" rIns="0" bIns="0" rtlCol="0" anchor="ctr"/>
          <a:lstStyle/>
          <a:p>
            <a:pPr indent="0" marL="0">
              <a:buNone/>
            </a:pPr>
            <a:r>
              <a:rPr lang="en-US" sz="2200" b="1" dirty="0">
                <a:solidFill>
                  <a:srgbClr val="31594D"/>
                </a:solidFill>
                <a:latin typeface="Trebuchet MS" pitchFamily="34" charset="0"/>
                <a:ea typeface="Trebuchet MS" pitchFamily="34" charset="-122"/>
                <a:cs typeface="Trebuchet MS" pitchFamily="34" charset="-120"/>
              </a:rPr>
              <a:t>exhibit.html</a:t>
            </a:r>
            <a:endParaRPr lang="en-US" sz="2200" dirty="0"/>
          </a:p>
        </p:txBody>
      </p:sp>
      <p:sp>
        <p:nvSpPr>
          <p:cNvPr id="11" name="Text 9"/>
          <p:cNvSpPr/>
          <p:nvPr/>
        </p:nvSpPr>
        <p:spPr>
          <a:xfrm>
            <a:off x="7644384" y="2441448"/>
            <a:ext cx="3410712"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ONE ALLOWED OUTPUT</a:t>
            </a:r>
            <a:endParaRPr lang="en-US" sz="1100" dirty="0"/>
          </a:p>
        </p:txBody>
      </p:sp>
      <p:sp>
        <p:nvSpPr>
          <p:cNvPr id="12" name="Text 10"/>
          <p:cNvSpPr/>
          <p:nvPr/>
        </p:nvSpPr>
        <p:spPr>
          <a:xfrm>
            <a:off x="7644384" y="2889504"/>
            <a:ext cx="3346704" cy="1033272"/>
          </a:xfrm>
          <a:prstGeom prst="rect">
            <a:avLst/>
          </a:prstGeom>
          <a:noFill/>
          <a:ln/>
        </p:spPr>
        <p:txBody>
          <a:bodyPr wrap="square" lIns="0" tIns="0" rIns="0" bIns="0" rtlCol="0" anchor="ctr"/>
          <a:lstStyle/>
          <a:p>
            <a:pPr indent="0" marL="0">
              <a:buNone/>
            </a:pPr>
            <a:r>
              <a:rPr lang="en-US" sz="2800" b="1" dirty="0">
                <a:solidFill>
                  <a:srgbClr val="202C2B"/>
                </a:solidFill>
                <a:latin typeface="Georgia" pitchFamily="34" charset="0"/>
                <a:ea typeface="Georgia" pitchFamily="34" charset="-122"/>
                <a:cs typeface="Georgia" pitchFamily="34" charset="-120"/>
              </a:rPr>
              <a:t>Capture before.</a:t>
            </a:r>
            <a:endParaRPr lang="en-US" sz="2800" dirty="0"/>
          </a:p>
          <a:p>
            <a:pPr indent="0" marL="0">
              <a:buNone/>
            </a:pPr>
            <a:r>
              <a:rPr lang="en-US" sz="2800" b="1" dirty="0">
                <a:solidFill>
                  <a:srgbClr val="202C2B"/>
                </a:solidFill>
                <a:latin typeface="Georgia" pitchFamily="34" charset="0"/>
                <a:ea typeface="Georgia" pitchFamily="34" charset="-122"/>
                <a:cs typeface="Georgia" pitchFamily="34" charset="-120"/>
              </a:rPr>
              <a:t>Compare after.</a:t>
            </a:r>
            <a:endParaRPr lang="en-US" sz="2800" dirty="0"/>
          </a:p>
        </p:txBody>
      </p:sp>
      <p:sp>
        <p:nvSpPr>
          <p:cNvPr id="13" name="Text 11"/>
          <p:cNvSpPr/>
          <p:nvPr/>
        </p:nvSpPr>
        <p:spPr>
          <a:xfrm>
            <a:off x="7644384" y="4279392"/>
            <a:ext cx="3337560" cy="777240"/>
          </a:xfrm>
          <a:prstGeom prst="rect">
            <a:avLst/>
          </a:prstGeom>
          <a:noFill/>
          <a:ln/>
        </p:spPr>
        <p:txBody>
          <a:bodyPr wrap="square" lIns="0" tIns="0" rIns="0" bIns="0" rtlCol="0" anchor="ctr"/>
          <a:lstStyle/>
          <a:p>
            <a:pPr indent="0" marL="0">
              <a:buNone/>
            </a:pPr>
            <a:r>
              <a:rPr lang="en-US" sz="2000" dirty="0">
                <a:solidFill>
                  <a:srgbClr val="55635E"/>
                </a:solidFill>
                <a:latin typeface="Trebuchet MS" pitchFamily="34" charset="0"/>
                <a:ea typeface="Trebuchet MS" pitchFamily="34" charset="-122"/>
                <a:cs typeface="Trebuchet MS" pitchFamily="34" charset="-120"/>
              </a:rPr>
              <a:t>New or changed.</a:t>
            </a:r>
            <a:endParaRPr lang="en-US" sz="2000" dirty="0"/>
          </a:p>
          <a:p>
            <a:pPr indent="0" marL="0">
              <a:buNone/>
            </a:pPr>
            <a:r>
              <a:rPr lang="en-US" sz="2000" dirty="0">
                <a:solidFill>
                  <a:srgbClr val="55635E"/>
                </a:solidFill>
                <a:latin typeface="Trebuchet MS" pitchFamily="34" charset="0"/>
                <a:ea typeface="Trebuchet MS" pitchFamily="34" charset="-122"/>
                <a:cs typeface="Trebuchet MS" pitchFamily="34" charset="-120"/>
              </a:rPr>
              <a:t>Nonempty. Regular file.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02C2B"/>
        </a:solidFill>
      </p:bgPr>
    </p:bg>
    <p:spTree>
      <p:nvGrpSpPr>
        <p:cNvPr id="1" name=""/>
        <p:cNvGrpSpPr/>
        <p:nvPr/>
      </p:nvGrpSpPr>
      <p:grpSpPr>
        <a:xfrm>
          <a:off x="0" y="0"/>
          <a:ext cx="0" cy="0"/>
          <a:chOff x="0" y="0"/>
          <a:chExt cx="0" cy="0"/>
        </a:xfrm>
      </p:grpSpPr>
      <p:sp>
        <p:nvSpPr>
          <p:cNvPr id="2" name="Text 0"/>
          <p:cNvSpPr/>
          <p:nvPr/>
        </p:nvSpPr>
        <p:spPr>
          <a:xfrm>
            <a:off x="621792" y="411480"/>
            <a:ext cx="6400800" cy="256032"/>
          </a:xfrm>
          <a:prstGeom prst="rect">
            <a:avLst/>
          </a:prstGeom>
          <a:noFill/>
          <a:ln/>
        </p:spPr>
        <p:txBody>
          <a:bodyPr wrap="square" lIns="0" tIns="0" rIns="0" bIns="0" rtlCol="0" anchor="ctr"/>
          <a:lstStyle/>
          <a:p>
            <a:pPr indent="0" marL="0">
              <a:buNone/>
            </a:pPr>
            <a:r>
              <a:rPr lang="en-US" sz="1100" b="1" spc="190" kern="0" dirty="0">
                <a:solidFill>
                  <a:srgbClr val="CDD8D1"/>
                </a:solidFill>
                <a:latin typeface="Trebuchet MS" pitchFamily="34" charset="0"/>
                <a:ea typeface="Trebuchet MS" pitchFamily="34" charset="-122"/>
                <a:cs typeface="Trebuchet MS" pitchFamily="34" charset="-120"/>
              </a:rPr>
              <a:t>MUSEUM EXHIBIT STUDIO</a:t>
            </a:r>
            <a:endParaRPr lang="en-US" sz="1100" dirty="0"/>
          </a:p>
        </p:txBody>
      </p:sp>
      <p:sp>
        <p:nvSpPr>
          <p:cNvPr id="3" name="Text 1"/>
          <p:cNvSpPr/>
          <p:nvPr/>
        </p:nvSpPr>
        <p:spPr>
          <a:xfrm>
            <a:off x="621792" y="6172200"/>
            <a:ext cx="4937760" cy="219456"/>
          </a:xfrm>
          <a:prstGeom prst="rect">
            <a:avLst/>
          </a:prstGeom>
          <a:noFill/>
          <a:ln/>
        </p:spPr>
        <p:txBody>
          <a:bodyPr wrap="square" lIns="0" tIns="0" rIns="0" bIns="0" rtlCol="0" anchor="ctr"/>
          <a:lstStyle/>
          <a:p>
            <a:pPr indent="0" marL="0">
              <a:buNone/>
            </a:pPr>
            <a:r>
              <a:rPr lang="en-US" sz="1050" dirty="0">
                <a:solidFill>
                  <a:srgbClr val="CDD8D1"/>
                </a:solidFill>
                <a:latin typeface="Trebuchet MS" pitchFamily="34" charset="0"/>
                <a:ea typeface="Trebuchet MS" pitchFamily="34" charset="-122"/>
                <a:cs typeface="Trebuchet MS" pitchFamily="34" charset="-120"/>
              </a:rPr>
              <a:t>GitHub Copilot SDK workshop</a:t>
            </a:r>
            <a:endParaRPr lang="en-US" sz="1050" dirty="0"/>
          </a:p>
        </p:txBody>
      </p:sp>
      <p:sp>
        <p:nvSpPr>
          <p:cNvPr id="4" name="Text 2"/>
          <p:cNvSpPr/>
          <p:nvPr/>
        </p:nvSpPr>
        <p:spPr>
          <a:xfrm>
            <a:off x="6720840" y="6172200"/>
            <a:ext cx="4846320" cy="219456"/>
          </a:xfrm>
          <a:prstGeom prst="rect">
            <a:avLst/>
          </a:prstGeom>
          <a:noFill/>
          <a:ln/>
        </p:spPr>
        <p:txBody>
          <a:bodyPr wrap="square" lIns="0" tIns="0" rIns="0" bIns="0" rtlCol="0" anchor="ctr"/>
          <a:lstStyle/>
          <a:p>
            <a:pPr algn="r" indent="0" marL="0">
              <a:buNone/>
            </a:pPr>
            <a:r>
              <a:rPr lang="en-US" sz="1050" dirty="0">
                <a:solidFill>
                  <a:srgbClr val="CDD8D1"/>
                </a:solidFill>
                <a:latin typeface="Trebuchet MS" pitchFamily="34" charset="0"/>
                <a:ea typeface="Trebuchet MS" pitchFamily="34" charset="-122"/>
                <a:cs typeface="Trebuchet MS" pitchFamily="34" charset="-120"/>
              </a:rPr>
              <a:t>08  /  CLOSE</a:t>
            </a:r>
            <a:endParaRPr lang="en-US" sz="1050" dirty="0"/>
          </a:p>
        </p:txBody>
      </p:sp>
      <p:sp>
        <p:nvSpPr>
          <p:cNvPr id="5" name="Text 3"/>
          <p:cNvSpPr/>
          <p:nvPr/>
        </p:nvSpPr>
        <p:spPr>
          <a:xfrm>
            <a:off x="640080" y="1078992"/>
            <a:ext cx="6446520" cy="2670048"/>
          </a:xfrm>
          <a:prstGeom prst="rect">
            <a:avLst/>
          </a:prstGeom>
          <a:noFill/>
          <a:ln/>
        </p:spPr>
        <p:txBody>
          <a:bodyPr wrap="square" lIns="0" tIns="0" rIns="0" bIns="0" rtlCol="0" anchor="t"/>
          <a:lstStyle/>
          <a:p>
            <a:pPr indent="0" marL="0">
              <a:buNone/>
            </a:pPr>
            <a:r>
              <a:rPr lang="en-US" sz="4700" b="1" dirty="0">
                <a:solidFill>
                  <a:srgbClr val="F4F0E7"/>
                </a:solidFill>
                <a:latin typeface="Georgia" pitchFamily="34" charset="0"/>
                <a:ea typeface="Georgia" pitchFamily="34" charset="-122"/>
                <a:cs typeface="Georgia" pitchFamily="34" charset="-120"/>
              </a:rPr>
              <a:t>Show what your</a:t>
            </a:r>
            <a:endParaRPr lang="en-US" sz="4700" dirty="0"/>
          </a:p>
          <a:p>
            <a:pPr indent="0" marL="0">
              <a:buNone/>
            </a:pPr>
            <a:r>
              <a:rPr lang="en-US" sz="4700" b="1" dirty="0">
                <a:solidFill>
                  <a:srgbClr val="F4F0E7"/>
                </a:solidFill>
                <a:latin typeface="Georgia" pitchFamily="34" charset="0"/>
                <a:ea typeface="Georgia" pitchFamily="34" charset="-122"/>
                <a:cs typeface="Georgia" pitchFamily="34" charset="-120"/>
              </a:rPr>
              <a:t>application</a:t>
            </a:r>
            <a:endParaRPr lang="en-US" sz="4700" dirty="0"/>
          </a:p>
          <a:p>
            <a:pPr indent="0" marL="0">
              <a:buNone/>
            </a:pPr>
            <a:r>
              <a:rPr lang="en-US" sz="4700" b="1" dirty="0">
                <a:solidFill>
                  <a:srgbClr val="F4F0E7"/>
                </a:solidFill>
                <a:latin typeface="Georgia" pitchFamily="34" charset="0"/>
                <a:ea typeface="Georgia" pitchFamily="34" charset="-122"/>
                <a:cs typeface="Georgia" pitchFamily="34" charset="-120"/>
              </a:rPr>
              <a:t>can prove.</a:t>
            </a:r>
            <a:endParaRPr lang="en-US" sz="4700" dirty="0"/>
          </a:p>
        </p:txBody>
      </p:sp>
      <p:sp>
        <p:nvSpPr>
          <p:cNvPr id="6" name="Text 4"/>
          <p:cNvSpPr/>
          <p:nvPr/>
        </p:nvSpPr>
        <p:spPr>
          <a:xfrm>
            <a:off x="685800" y="4590288"/>
            <a:ext cx="5486400" cy="914400"/>
          </a:xfrm>
          <a:prstGeom prst="rect">
            <a:avLst/>
          </a:prstGeom>
          <a:noFill/>
          <a:ln/>
        </p:spPr>
        <p:txBody>
          <a:bodyPr wrap="square" lIns="0" tIns="0" rIns="0" bIns="0" rtlCol="0" anchor="ctr"/>
          <a:lstStyle/>
          <a:p>
            <a:pPr indent="0" marL="0">
              <a:buNone/>
            </a:pPr>
            <a:r>
              <a:rPr lang="en-US" sz="2600" dirty="0">
                <a:solidFill>
                  <a:srgbClr val="CDD8D1"/>
                </a:solidFill>
                <a:latin typeface="Trebuchet MS" pitchFamily="34" charset="0"/>
                <a:ea typeface="Trebuchet MS" pitchFamily="34" charset="-122"/>
                <a:cs typeface="Trebuchet MS" pitchFamily="34" charset="-120"/>
              </a:rPr>
              <a:t>Demo one result.</a:t>
            </a:r>
            <a:endParaRPr lang="en-US" sz="2600" dirty="0"/>
          </a:p>
          <a:p>
            <a:pPr indent="0" marL="0">
              <a:buNone/>
            </a:pPr>
            <a:r>
              <a:rPr lang="en-US" sz="2600" dirty="0">
                <a:solidFill>
                  <a:srgbClr val="CDD8D1"/>
                </a:solidFill>
                <a:latin typeface="Trebuchet MS" pitchFamily="34" charset="0"/>
                <a:ea typeface="Trebuchet MS" pitchFamily="34" charset="-122"/>
                <a:cs typeface="Trebuchet MS" pitchFamily="34" charset="-120"/>
              </a:rPr>
              <a:t>Explain one limit.</a:t>
            </a:r>
            <a:endParaRPr lang="en-US" sz="2600" dirty="0"/>
          </a:p>
        </p:txBody>
      </p:sp>
      <p:sp>
        <p:nvSpPr>
          <p:cNvPr id="7" name="Shape 5"/>
          <p:cNvSpPr/>
          <p:nvPr/>
        </p:nvSpPr>
        <p:spPr>
          <a:xfrm>
            <a:off x="7315200" y="1362456"/>
            <a:ext cx="4206240" cy="1133856"/>
          </a:xfrm>
          <a:prstGeom prst="rect">
            <a:avLst/>
          </a:prstGeom>
          <a:solidFill>
            <a:srgbClr val="EBCABD"/>
          </a:solidFill>
          <a:ln w="12700">
            <a:solidFill>
              <a:srgbClr val="EBCABD">
                <a:alpha val="0"/>
              </a:srgbClr>
            </a:solidFill>
            <a:prstDash val="solid"/>
          </a:ln>
        </p:spPr>
      </p:sp>
      <p:sp>
        <p:nvSpPr>
          <p:cNvPr id="8" name="Text 6"/>
          <p:cNvSpPr/>
          <p:nvPr/>
        </p:nvSpPr>
        <p:spPr>
          <a:xfrm>
            <a:off x="7589520" y="1600200"/>
            <a:ext cx="3657600"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MODEL CHOICE</a:t>
            </a:r>
            <a:endParaRPr lang="en-US" sz="1100" dirty="0"/>
          </a:p>
        </p:txBody>
      </p:sp>
      <p:sp>
        <p:nvSpPr>
          <p:cNvPr id="9" name="Text 7"/>
          <p:cNvSpPr/>
          <p:nvPr/>
        </p:nvSpPr>
        <p:spPr>
          <a:xfrm>
            <a:off x="7589520" y="1938528"/>
            <a:ext cx="3639312" cy="356616"/>
          </a:xfrm>
          <a:prstGeom prst="rect">
            <a:avLst/>
          </a:prstGeom>
          <a:noFill/>
          <a:ln/>
        </p:spPr>
        <p:txBody>
          <a:bodyPr wrap="square" lIns="0" tIns="0" rIns="0" bIns="0" rtlCol="0" anchor="ctr"/>
          <a:lstStyle/>
          <a:p>
            <a:pPr indent="0" marL="0">
              <a:buNone/>
            </a:pPr>
            <a:r>
              <a:rPr lang="en-US" sz="1900" b="1" dirty="0">
                <a:solidFill>
                  <a:srgbClr val="202C2B"/>
                </a:solidFill>
                <a:latin typeface="Trebuchet MS" pitchFamily="34" charset="0"/>
                <a:ea typeface="Trebuchet MS" pitchFamily="34" charset="-122"/>
                <a:cs typeface="Trebuchet MS" pitchFamily="34" charset="-120"/>
              </a:rPr>
              <a:t>What did the model request?</a:t>
            </a:r>
            <a:endParaRPr lang="en-US" sz="1900" dirty="0"/>
          </a:p>
        </p:txBody>
      </p:sp>
      <p:sp>
        <p:nvSpPr>
          <p:cNvPr id="10" name="Shape 8"/>
          <p:cNvSpPr/>
          <p:nvPr/>
        </p:nvSpPr>
        <p:spPr>
          <a:xfrm>
            <a:off x="7315200" y="2852928"/>
            <a:ext cx="4206240" cy="1133856"/>
          </a:xfrm>
          <a:prstGeom prst="rect">
            <a:avLst/>
          </a:prstGeom>
          <a:solidFill>
            <a:srgbClr val="D9E3D4"/>
          </a:solidFill>
          <a:ln w="12700">
            <a:solidFill>
              <a:srgbClr val="D9E3D4">
                <a:alpha val="0"/>
              </a:srgbClr>
            </a:solidFill>
            <a:prstDash val="solid"/>
          </a:ln>
        </p:spPr>
      </p:sp>
      <p:sp>
        <p:nvSpPr>
          <p:cNvPr id="11" name="Text 9"/>
          <p:cNvSpPr/>
          <p:nvPr/>
        </p:nvSpPr>
        <p:spPr>
          <a:xfrm>
            <a:off x="7589520" y="3090672"/>
            <a:ext cx="3657600"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CODE DECISION</a:t>
            </a:r>
            <a:endParaRPr lang="en-US" sz="1100" dirty="0"/>
          </a:p>
        </p:txBody>
      </p:sp>
      <p:sp>
        <p:nvSpPr>
          <p:cNvPr id="12" name="Text 10"/>
          <p:cNvSpPr/>
          <p:nvPr/>
        </p:nvSpPr>
        <p:spPr>
          <a:xfrm>
            <a:off x="7589520" y="3429000"/>
            <a:ext cx="3639312" cy="356616"/>
          </a:xfrm>
          <a:prstGeom prst="rect">
            <a:avLst/>
          </a:prstGeom>
          <a:noFill/>
          <a:ln/>
        </p:spPr>
        <p:txBody>
          <a:bodyPr wrap="square" lIns="0" tIns="0" rIns="0" bIns="0" rtlCol="0" anchor="ctr"/>
          <a:lstStyle/>
          <a:p>
            <a:pPr indent="0" marL="0">
              <a:buNone/>
            </a:pPr>
            <a:r>
              <a:rPr lang="en-US" sz="1900" b="1" dirty="0">
                <a:solidFill>
                  <a:srgbClr val="202C2B"/>
                </a:solidFill>
                <a:latin typeface="Trebuchet MS" pitchFamily="34" charset="0"/>
                <a:ea typeface="Trebuchet MS" pitchFamily="34" charset="-122"/>
                <a:cs typeface="Trebuchet MS" pitchFamily="34" charset="-120"/>
              </a:rPr>
              <a:t>Which rule did the app enforce?</a:t>
            </a:r>
            <a:endParaRPr lang="en-US" sz="1900" dirty="0"/>
          </a:p>
        </p:txBody>
      </p:sp>
      <p:sp>
        <p:nvSpPr>
          <p:cNvPr id="13" name="Shape 11"/>
          <p:cNvSpPr/>
          <p:nvPr/>
        </p:nvSpPr>
        <p:spPr>
          <a:xfrm>
            <a:off x="7315200" y="4343400"/>
            <a:ext cx="4206240" cy="1133856"/>
          </a:xfrm>
          <a:prstGeom prst="rect">
            <a:avLst/>
          </a:prstGeom>
          <a:solidFill>
            <a:srgbClr val="F4F0E7"/>
          </a:solidFill>
          <a:ln w="12700">
            <a:solidFill>
              <a:srgbClr val="F4F0E7">
                <a:alpha val="0"/>
              </a:srgbClr>
            </a:solidFill>
            <a:prstDash val="solid"/>
          </a:ln>
        </p:spPr>
      </p:sp>
      <p:sp>
        <p:nvSpPr>
          <p:cNvPr id="14" name="Text 12"/>
          <p:cNvSpPr/>
          <p:nvPr/>
        </p:nvSpPr>
        <p:spPr>
          <a:xfrm>
            <a:off x="7589520" y="4581144"/>
            <a:ext cx="3657600" cy="256032"/>
          </a:xfrm>
          <a:prstGeom prst="rect">
            <a:avLst/>
          </a:prstGeom>
          <a:noFill/>
          <a:ln/>
        </p:spPr>
        <p:txBody>
          <a:bodyPr wrap="square" lIns="0" tIns="0" rIns="0" bIns="0" rtlCol="0" anchor="ctr"/>
          <a:lstStyle/>
          <a:p>
            <a:pPr indent="0" marL="0">
              <a:buNone/>
            </a:pPr>
            <a:r>
              <a:rPr lang="en-US" sz="1100" b="1" spc="190" kern="0" dirty="0">
                <a:solidFill>
                  <a:srgbClr val="55635E"/>
                </a:solidFill>
                <a:latin typeface="Trebuchet MS" pitchFamily="34" charset="0"/>
                <a:ea typeface="Trebuchet MS" pitchFamily="34" charset="-122"/>
                <a:cs typeface="Trebuchet MS" pitchFamily="34" charset="-120"/>
              </a:rPr>
              <a:t>HUMAN REVIEW</a:t>
            </a:r>
            <a:endParaRPr lang="en-US" sz="1100" dirty="0"/>
          </a:p>
        </p:txBody>
      </p:sp>
      <p:sp>
        <p:nvSpPr>
          <p:cNvPr id="15" name="Text 13"/>
          <p:cNvSpPr/>
          <p:nvPr/>
        </p:nvSpPr>
        <p:spPr>
          <a:xfrm>
            <a:off x="7589520" y="4919472"/>
            <a:ext cx="3639312" cy="356616"/>
          </a:xfrm>
          <a:prstGeom prst="rect">
            <a:avLst/>
          </a:prstGeom>
          <a:noFill/>
          <a:ln/>
        </p:spPr>
        <p:txBody>
          <a:bodyPr wrap="square" lIns="0" tIns="0" rIns="0" bIns="0" rtlCol="0" anchor="ctr"/>
          <a:lstStyle/>
          <a:p>
            <a:pPr indent="0" marL="0">
              <a:buNone/>
            </a:pPr>
            <a:r>
              <a:rPr lang="en-US" sz="1900" b="1" dirty="0">
                <a:solidFill>
                  <a:srgbClr val="202C2B"/>
                </a:solidFill>
                <a:latin typeface="Trebuchet MS" pitchFamily="34" charset="0"/>
                <a:ea typeface="Trebuchet MS" pitchFamily="34" charset="-122"/>
                <a:cs typeface="Trebuchet MS" pitchFamily="34" charset="-120"/>
              </a:rPr>
              <a:t>What still needs judgment?</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buchet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Copilot SDK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 curator. Keep the judgment human.</dc:title>
  <dc:subject>Museum Exhibit Studio: opening and major teaching transitions</dc:subject>
  <dc:creator>Copilot SDK Workshop</dc:creator>
  <cp:lastModifiedBy>Copilot SDK Workshop</cp:lastModifiedBy>
  <cp:revision>1</cp:revision>
  <dcterms:created xsi:type="dcterms:W3CDTF">2026-09-16T18:03:36Z</dcterms:created>
  <dcterms:modified xsi:type="dcterms:W3CDTF">2026-09-16T18:03:36Z</dcterms:modified>
</cp:coreProperties>
</file>